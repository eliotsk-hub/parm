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18"/>
  </p:notesMasterIdLst>
  <p:sldIdLst>
    <p:sldId id="256" r:id="rId2"/>
    <p:sldId id="257" r:id="rId3"/>
    <p:sldId id="293" r:id="rId4"/>
    <p:sldId id="263" r:id="rId5"/>
    <p:sldId id="289" r:id="rId6"/>
    <p:sldId id="290" r:id="rId7"/>
    <p:sldId id="294" r:id="rId8"/>
    <p:sldId id="262" r:id="rId9"/>
    <p:sldId id="258" r:id="rId10"/>
    <p:sldId id="259" r:id="rId11"/>
    <p:sldId id="261" r:id="rId12"/>
    <p:sldId id="291" r:id="rId13"/>
    <p:sldId id="267" r:id="rId14"/>
    <p:sldId id="260" r:id="rId15"/>
    <p:sldId id="292" r:id="rId16"/>
    <p:sldId id="268" r:id="rId17"/>
  </p:sldIdLst>
  <p:sldSz cx="9144000" cy="5143500" type="screen16x9"/>
  <p:notesSz cx="6858000" cy="9144000"/>
  <p:embeddedFontLst>
    <p:embeddedFont>
      <p:font typeface="Hanken Grotesk" panose="020B0604020202020204" charset="0"/>
      <p:regular r:id="rId19"/>
      <p:bold r:id="rId20"/>
      <p:italic r:id="rId21"/>
      <p:boldItalic r:id="rId22"/>
    </p:embeddedFont>
    <p:embeddedFont>
      <p:font typeface="Inter" panose="020B0604020202020204" charset="0"/>
      <p:regular r:id="rId23"/>
      <p:bold r:id="rId24"/>
      <p:italic r:id="rId25"/>
      <p:boldItalic r:id="rId26"/>
    </p:embeddedFont>
    <p:embeddedFont>
      <p:font typeface="Open Sans" panose="020B0606030504020204" pitchFamily="34" charset="0"/>
      <p:regular r:id="rId27"/>
      <p:bold r:id="rId28"/>
      <p:italic r:id="rId29"/>
      <p:boldItalic r:id="rId30"/>
    </p:embeddedFont>
    <p:embeddedFont>
      <p:font typeface="Raleway" pitchFamily="2" charset="0"/>
      <p:regular r:id="rId31"/>
      <p:bold r:id="rId32"/>
      <p:italic r:id="rId33"/>
      <p:boldItalic r:id="rId34"/>
    </p:embeddedFont>
    <p:embeddedFont>
      <p:font typeface="Roboto Mono" panose="00000009000000000000" pitchFamily="49" charset="0"/>
      <p:regular r:id="rId35"/>
      <p:bold r:id="rId36"/>
      <p:italic r:id="rId37"/>
      <p:boldItalic r:id="rId38"/>
    </p:embeddedFont>
    <p:embeddedFont>
      <p:font typeface="VT323" panose="020B0604020202020204" charset="0"/>
      <p:regular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EFE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8766CA-E26D-4DF4-974C-C83455E116DF}">
  <a:tblStyle styleId="{528766CA-E26D-4DF4-974C-C83455E116D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938" autoAdjust="0"/>
  </p:normalViewPr>
  <p:slideViewPr>
    <p:cSldViewPr snapToGrid="0">
      <p:cViewPr varScale="1">
        <p:scale>
          <a:sx n="63" d="100"/>
          <a:sy n="63" d="100"/>
        </p:scale>
        <p:origin x="77" y="4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9" Type="http://schemas.openxmlformats.org/officeDocument/2006/relationships/font" Target="fonts/font21.fntdata"/><Relationship Id="rId21" Type="http://schemas.openxmlformats.org/officeDocument/2006/relationships/font" Target="fonts/font3.fntdata"/><Relationship Id="rId34" Type="http://schemas.openxmlformats.org/officeDocument/2006/relationships/font" Target="fonts/font16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font" Target="fonts/font14.fntdata"/><Relationship Id="rId37" Type="http://schemas.openxmlformats.org/officeDocument/2006/relationships/font" Target="fonts/font19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openxmlformats.org/officeDocument/2006/relationships/font" Target="fonts/font18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font" Target="fonts/font17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font" Target="fonts/font15.fntdata"/><Relationship Id="rId38" Type="http://schemas.openxmlformats.org/officeDocument/2006/relationships/font" Target="fonts/font2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ed3401ed3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ed3401ed3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66dfe6d782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66dfe6d782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b="1" dirty="0"/>
              <a:t>ISA</a:t>
            </a:r>
            <a:r>
              <a:rPr lang="fr-FR" dirty="0"/>
              <a:t> = le “langage” du processeur : la liste des instructions qu’il comprend (ADD, SUB, LDR, STR, B…)</a:t>
            </a:r>
          </a:p>
          <a:p>
            <a:r>
              <a:rPr lang="fr-FR" b="1" dirty="0" err="1"/>
              <a:t>Thumb</a:t>
            </a:r>
            <a:r>
              <a:rPr lang="fr-FR" b="1" dirty="0"/>
              <a:t> 16 bits</a:t>
            </a:r>
            <a:r>
              <a:rPr lang="fr-FR" dirty="0"/>
              <a:t> = dans votre projet, </a:t>
            </a:r>
            <a:r>
              <a:rPr lang="fr-FR" b="1" dirty="0"/>
              <a:t>chaque instruction est codée sur 16 bits</a:t>
            </a:r>
            <a:r>
              <a:rPr lang="fr-FR" dirty="0"/>
              <a:t> (2 octets).</a:t>
            </a:r>
            <a:br>
              <a:rPr lang="fr-FR" dirty="0"/>
            </a:br>
            <a:r>
              <a:rPr lang="fr-FR" dirty="0"/>
              <a:t>Donc en ROM, le programme est une suite de “mots” de 16 bits.</a:t>
            </a:r>
          </a:p>
          <a:p>
            <a:r>
              <a:rPr lang="fr-FR" b="1" dirty="0"/>
              <a:t>Données 32 bits</a:t>
            </a:r>
            <a:r>
              <a:rPr lang="fr-FR" dirty="0"/>
              <a:t> = les valeurs manipulées par le CPU (registres, ALU, résultats) sont sur </a:t>
            </a:r>
            <a:r>
              <a:rPr lang="fr-FR" b="1" dirty="0"/>
              <a:t>32 bits</a:t>
            </a:r>
            <a:r>
              <a:rPr lang="fr-FR" dirty="0"/>
              <a:t> (4 octets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>
          <a:extLst>
            <a:ext uri="{FF2B5EF4-FFF2-40B4-BE49-F238E27FC236}">
              <a16:creationId xmlns:a16="http://schemas.microsoft.com/office/drawing/2014/main" id="{4AEDC488-D816-B273-2D39-81AE064FC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66dfe6d782_0_138:notes">
            <a:extLst>
              <a:ext uri="{FF2B5EF4-FFF2-40B4-BE49-F238E27FC236}">
                <a16:creationId xmlns:a16="http://schemas.microsoft.com/office/drawing/2014/main" id="{435D8D60-BD9F-4432-8D3E-2E65014BED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66dfe6d782_0_138:notes">
            <a:extLst>
              <a:ext uri="{FF2B5EF4-FFF2-40B4-BE49-F238E27FC236}">
                <a16:creationId xmlns:a16="http://schemas.microsoft.com/office/drawing/2014/main" id="{2447CC99-621B-E4DA-9F0E-C7F2D97216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b="1" dirty="0"/>
              <a:t>ISA</a:t>
            </a:r>
            <a:r>
              <a:rPr lang="fr-FR" dirty="0"/>
              <a:t> = le “langage” du processeur : la liste des instructions qu’il comprend (ADD, SUB, LDR, STR, B…)</a:t>
            </a:r>
          </a:p>
          <a:p>
            <a:r>
              <a:rPr lang="fr-FR" b="1" dirty="0" err="1"/>
              <a:t>Thumb</a:t>
            </a:r>
            <a:r>
              <a:rPr lang="fr-FR" b="1" dirty="0"/>
              <a:t> 16 bits</a:t>
            </a:r>
            <a:r>
              <a:rPr lang="fr-FR" dirty="0"/>
              <a:t> = dans votre projet, </a:t>
            </a:r>
            <a:r>
              <a:rPr lang="fr-FR" b="1" dirty="0"/>
              <a:t>chaque instruction est codée sur 16 bits</a:t>
            </a:r>
            <a:r>
              <a:rPr lang="fr-FR" dirty="0"/>
              <a:t> (2 octets).</a:t>
            </a:r>
            <a:br>
              <a:rPr lang="fr-FR" dirty="0"/>
            </a:br>
            <a:r>
              <a:rPr lang="fr-FR" dirty="0"/>
              <a:t>Donc en ROM, le programme est une suite de “mots” de 16 bits.</a:t>
            </a:r>
          </a:p>
          <a:p>
            <a:r>
              <a:rPr lang="fr-FR" b="1" dirty="0"/>
              <a:t>Données 32 bits</a:t>
            </a:r>
            <a:r>
              <a:rPr lang="fr-FR" dirty="0"/>
              <a:t> = les valeurs manipulées par le CPU (registres, ALU, résultats) sont sur </a:t>
            </a:r>
            <a:r>
              <a:rPr lang="fr-FR" b="1" dirty="0"/>
              <a:t>32 bits</a:t>
            </a:r>
            <a:r>
              <a:rPr lang="fr-FR" dirty="0"/>
              <a:t> (4 octets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329073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e1d838b627_4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e1d838b627_4_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>
          <a:extLst>
            <a:ext uri="{FF2B5EF4-FFF2-40B4-BE49-F238E27FC236}">
              <a16:creationId xmlns:a16="http://schemas.microsoft.com/office/drawing/2014/main" id="{A8B6BCCB-C30F-EC7B-A39B-F2F4B74EA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e1d838b627_4_100:notes">
            <a:extLst>
              <a:ext uri="{FF2B5EF4-FFF2-40B4-BE49-F238E27FC236}">
                <a16:creationId xmlns:a16="http://schemas.microsoft.com/office/drawing/2014/main" id="{98996BA7-B5ED-382A-54D0-453EF203CC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e1d838b627_4_100:notes">
            <a:extLst>
              <a:ext uri="{FF2B5EF4-FFF2-40B4-BE49-F238E27FC236}">
                <a16:creationId xmlns:a16="http://schemas.microsoft.com/office/drawing/2014/main" id="{46652D8C-7ABE-460B-B613-3F4772B5F3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14615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>
          <a:extLst>
            <a:ext uri="{FF2B5EF4-FFF2-40B4-BE49-F238E27FC236}">
              <a16:creationId xmlns:a16="http://schemas.microsoft.com/office/drawing/2014/main" id="{C8FEA8E7-CC18-435F-FE48-C50F36C8B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e1d838b627_4_100:notes">
            <a:extLst>
              <a:ext uri="{FF2B5EF4-FFF2-40B4-BE49-F238E27FC236}">
                <a16:creationId xmlns:a16="http://schemas.microsoft.com/office/drawing/2014/main" id="{52606B51-58F8-846D-AA34-4E35B12885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e1d838b627_4_100:notes">
            <a:extLst>
              <a:ext uri="{FF2B5EF4-FFF2-40B4-BE49-F238E27FC236}">
                <a16:creationId xmlns:a16="http://schemas.microsoft.com/office/drawing/2014/main" id="{E1DE884A-CB3F-EB0F-9CF4-6731D2508B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11860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>
          <a:extLst>
            <a:ext uri="{FF2B5EF4-FFF2-40B4-BE49-F238E27FC236}">
              <a16:creationId xmlns:a16="http://schemas.microsoft.com/office/drawing/2014/main" id="{D3464359-98B3-43AC-C204-7C85DAF38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e1d838b627_4_100:notes">
            <a:extLst>
              <a:ext uri="{FF2B5EF4-FFF2-40B4-BE49-F238E27FC236}">
                <a16:creationId xmlns:a16="http://schemas.microsoft.com/office/drawing/2014/main" id="{559945D6-E07B-7291-9A0E-0980320E9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e1d838b627_4_100:notes">
            <a:extLst>
              <a:ext uri="{FF2B5EF4-FFF2-40B4-BE49-F238E27FC236}">
                <a16:creationId xmlns:a16="http://schemas.microsoft.com/office/drawing/2014/main" id="{370E82F1-0EE8-D17F-F469-ABDF8B73A2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1670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e1d838b627_4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e1d838b627_4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e1d838b627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e1d838b627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Instructions codées sur 16 bits, données/ALU sur 32 bits.</a:t>
            </a:r>
            <a:endParaRPr lang="fr-FR" dirty="0"/>
          </a:p>
          <a:p>
            <a:r>
              <a:rPr lang="fr-FR" b="1" dirty="0"/>
              <a:t>LDR/STR prennent 2 cycles : (1) calcul adresse, (2) accès RAM + écriture registre.</a:t>
            </a:r>
          </a:p>
          <a:p>
            <a:endParaRPr lang="fr-FR" b="1" dirty="0"/>
          </a:p>
          <a:p>
            <a:r>
              <a:rPr lang="fr-FR" b="1" dirty="0"/>
              <a:t>Pourquoi 2 cycles (LDR/STR) ?</a:t>
            </a:r>
            <a:br>
              <a:rPr lang="fr-FR" dirty="0"/>
            </a:br>
            <a:r>
              <a:rPr lang="fr-FR" dirty="0"/>
              <a:t>« Parce qu’on fait d’abord le calcul de l’adresse (SP + offset), puis l’accès à la RAM : 2 étapes → 2 cycles. »</a:t>
            </a:r>
          </a:p>
          <a:p>
            <a:r>
              <a:rPr lang="fr-FR" b="1" dirty="0"/>
              <a:t>Pourquoi pas de BL ?</a:t>
            </a:r>
            <a:br>
              <a:rPr lang="fr-FR" dirty="0"/>
            </a:br>
            <a:r>
              <a:rPr lang="fr-FR" dirty="0"/>
              <a:t>« BL sert à appeler une fonction en sauvegardant l’adresse de retour ; notre projet ne gère que les branches simples, pas l’appel/retour. »</a:t>
            </a:r>
          </a:p>
          <a:p>
            <a:pPr marL="158750" indent="0"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e1d838b627_4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e1d838b627_4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1" dirty="0"/>
              <a:t>Supporté </a:t>
            </a:r>
          </a:p>
          <a:p>
            <a:r>
              <a:rPr lang="fr-FR" dirty="0"/>
              <a:t>Sous-ensemble d’instructions (celles de notre CPU)</a:t>
            </a:r>
          </a:p>
          <a:p>
            <a:r>
              <a:rPr lang="fr-FR" b="1" dirty="0"/>
              <a:t>Immédiats / offsets</a:t>
            </a:r>
            <a:r>
              <a:rPr lang="fr-FR" dirty="0"/>
              <a:t> dans les limites</a:t>
            </a:r>
          </a:p>
          <a:p>
            <a:r>
              <a:rPr lang="fr-FR" b="1" dirty="0"/>
              <a:t>Commentaires</a:t>
            </a:r>
            <a:r>
              <a:rPr lang="fr-FR" dirty="0"/>
              <a:t> ignorés</a:t>
            </a:r>
          </a:p>
          <a:p>
            <a:r>
              <a:rPr lang="fr-FR" b="1" dirty="0"/>
              <a:t>Labels + branches</a:t>
            </a:r>
            <a:r>
              <a:rPr lang="fr-FR" dirty="0"/>
              <a:t> (sauts)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Vérifications </a:t>
            </a:r>
          </a:p>
          <a:p>
            <a:r>
              <a:rPr lang="fr-FR" dirty="0"/>
              <a:t>format d’instruction invalide</a:t>
            </a:r>
          </a:p>
          <a:p>
            <a:r>
              <a:rPr lang="fr-FR" dirty="0"/>
              <a:t>registre invalide</a:t>
            </a:r>
          </a:p>
          <a:p>
            <a:r>
              <a:rPr lang="fr-FR" dirty="0"/>
              <a:t>immédiat/offset trop grand</a:t>
            </a:r>
          </a:p>
          <a:p>
            <a:r>
              <a:rPr lang="fr-FR" dirty="0"/>
              <a:t>label inconnu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3fb61485ab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3fb61485ab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>
          <a:extLst>
            <a:ext uri="{FF2B5EF4-FFF2-40B4-BE49-F238E27FC236}">
              <a16:creationId xmlns:a16="http://schemas.microsoft.com/office/drawing/2014/main" id="{DAD9FCF3-25AC-C36D-DD3B-2CEC0C89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3fb61485ab_0_110:notes">
            <a:extLst>
              <a:ext uri="{FF2B5EF4-FFF2-40B4-BE49-F238E27FC236}">
                <a16:creationId xmlns:a16="http://schemas.microsoft.com/office/drawing/2014/main" id="{0AF95C57-846B-F76D-A118-35278DB34E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3fb61485ab_0_110:notes">
            <a:extLst>
              <a:ext uri="{FF2B5EF4-FFF2-40B4-BE49-F238E27FC236}">
                <a16:creationId xmlns:a16="http://schemas.microsoft.com/office/drawing/2014/main" id="{B374EEC7-BB73-2B5B-632B-FFC6295F4A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1" dirty="0"/>
              <a:t>Indicateurs NZCV</a:t>
            </a:r>
            <a:endParaRPr lang="fr-FR" dirty="0"/>
          </a:p>
          <a:p>
            <a:r>
              <a:rPr lang="fr-FR" b="1" dirty="0"/>
              <a:t>N</a:t>
            </a:r>
            <a:r>
              <a:rPr lang="fr-FR" dirty="0"/>
              <a:t> : résultat négatif</a:t>
            </a:r>
          </a:p>
          <a:p>
            <a:r>
              <a:rPr lang="fr-FR" b="1" dirty="0"/>
              <a:t>Z</a:t>
            </a:r>
            <a:r>
              <a:rPr lang="fr-FR" dirty="0"/>
              <a:t> : résultat = 0</a:t>
            </a:r>
          </a:p>
          <a:p>
            <a:r>
              <a:rPr lang="fr-FR" b="1" dirty="0"/>
              <a:t>C</a:t>
            </a:r>
            <a:r>
              <a:rPr lang="fr-FR" dirty="0"/>
              <a:t> : retenue (carry)</a:t>
            </a:r>
          </a:p>
          <a:p>
            <a:r>
              <a:rPr lang="fr-FR" b="1" dirty="0"/>
              <a:t>V</a:t>
            </a:r>
            <a:r>
              <a:rPr lang="fr-FR" dirty="0"/>
              <a:t> : dépassement (</a:t>
            </a:r>
            <a:r>
              <a:rPr lang="fr-FR" dirty="0" err="1"/>
              <a:t>overflow</a:t>
            </a:r>
            <a:r>
              <a:rPr lang="fr-F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790622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2dfe25653d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" name="Google Shape;346;g2dfe25653d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Démo (2 min)</a:t>
            </a:r>
          </a:p>
          <a:p>
            <a:r>
              <a:rPr lang="fr-FR" dirty="0"/>
              <a:t>lancer </a:t>
            </a:r>
            <a:r>
              <a:rPr lang="fr-FR" b="1" dirty="0"/>
              <a:t>1 test unitaire</a:t>
            </a:r>
            <a:r>
              <a:rPr lang="fr-FR" dirty="0"/>
              <a:t> (rapide)</a:t>
            </a:r>
          </a:p>
          <a:p>
            <a:r>
              <a:rPr lang="fr-FR" dirty="0"/>
              <a:t>lancer </a:t>
            </a:r>
            <a:r>
              <a:rPr lang="fr-FR" b="1" dirty="0"/>
              <a:t>1 test intégration CPU</a:t>
            </a:r>
            <a:r>
              <a:rPr lang="fr-FR" dirty="0"/>
              <a:t> (votre programme le plus complet)</a:t>
            </a:r>
          </a:p>
          <a:p>
            <a:r>
              <a:rPr lang="fr-FR" dirty="0"/>
              <a:t>lancer </a:t>
            </a:r>
            <a:r>
              <a:rPr lang="fr-FR" b="1" dirty="0"/>
              <a:t>1 test parseur</a:t>
            </a:r>
            <a:r>
              <a:rPr lang="fr-FR" dirty="0"/>
              <a:t> (</a:t>
            </a:r>
            <a:r>
              <a:rPr lang="fr-FR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.s → .</a:t>
            </a:r>
            <a:r>
              <a:rPr lang="fr-FR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hex</a:t>
            </a:r>
            <a:r>
              <a:rPr lang="fr-FR" dirty="0"/>
              <a:t> + exemple d’erreur gérée)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e1d838b627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e1d838b627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>
          <a:extLst>
            <a:ext uri="{FF2B5EF4-FFF2-40B4-BE49-F238E27FC236}">
              <a16:creationId xmlns:a16="http://schemas.microsoft.com/office/drawing/2014/main" id="{0B78C025-7CE2-DC20-2CB9-3A878782D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3fb61485ab_0_110:notes">
            <a:extLst>
              <a:ext uri="{FF2B5EF4-FFF2-40B4-BE49-F238E27FC236}">
                <a16:creationId xmlns:a16="http://schemas.microsoft.com/office/drawing/2014/main" id="{D3BE5198-DFC0-EBE7-5DB6-3421989614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3fb61485ab_0_110:notes">
            <a:extLst>
              <a:ext uri="{FF2B5EF4-FFF2-40B4-BE49-F238E27FC236}">
                <a16:creationId xmlns:a16="http://schemas.microsoft.com/office/drawing/2014/main" id="{E6C84B54-228B-764D-A11A-93B5A05773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1" dirty="0"/>
              <a:t>Indicateurs NZCV</a:t>
            </a:r>
            <a:endParaRPr lang="fr-FR" dirty="0"/>
          </a:p>
          <a:p>
            <a:r>
              <a:rPr lang="fr-FR" b="1" dirty="0"/>
              <a:t>N</a:t>
            </a:r>
            <a:r>
              <a:rPr lang="fr-FR" dirty="0"/>
              <a:t> : résultat négatif</a:t>
            </a:r>
          </a:p>
          <a:p>
            <a:r>
              <a:rPr lang="fr-FR" b="1" dirty="0"/>
              <a:t>Z</a:t>
            </a:r>
            <a:r>
              <a:rPr lang="fr-FR" dirty="0"/>
              <a:t> : résultat = 0</a:t>
            </a:r>
          </a:p>
          <a:p>
            <a:r>
              <a:rPr lang="fr-FR" b="1" dirty="0"/>
              <a:t>C</a:t>
            </a:r>
            <a:r>
              <a:rPr lang="fr-FR" dirty="0"/>
              <a:t> : retenue (carry)</a:t>
            </a:r>
          </a:p>
          <a:p>
            <a:r>
              <a:rPr lang="fr-FR" b="1" dirty="0"/>
              <a:t>V</a:t>
            </a:r>
            <a:r>
              <a:rPr lang="fr-FR" dirty="0"/>
              <a:t> : dépassement (</a:t>
            </a:r>
            <a:r>
              <a:rPr lang="fr-FR" dirty="0" err="1"/>
              <a:t>overflow</a:t>
            </a:r>
            <a:r>
              <a:rPr lang="fr-FR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9842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e1d838b627_4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ge1d838b627_4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0" name="Google Shape;10;p2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11;p2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" name="Google Shape;12;p2"/>
          <p:cNvSpPr>
            <a:spLocks noGrp="1"/>
          </p:cNvSpPr>
          <p:nvPr>
            <p:ph type="pic" idx="2"/>
          </p:nvPr>
        </p:nvSpPr>
        <p:spPr>
          <a:xfrm>
            <a:off x="5805375" y="1317075"/>
            <a:ext cx="2831700" cy="2648100"/>
          </a:xfrm>
          <a:prstGeom prst="rect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606800" y="849600"/>
            <a:ext cx="5060700" cy="24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606800" y="3364900"/>
            <a:ext cx="4351500" cy="1135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15" name="Google Shape;15;p2" title="Sin título-2.png"/>
          <p:cNvPicPr preferRelativeResize="0"/>
          <p:nvPr/>
        </p:nvPicPr>
        <p:blipFill rotWithShape="1">
          <a:blip r:embed="rId3">
            <a:alphaModFix/>
          </a:blip>
          <a:srcRect l="61982"/>
          <a:stretch/>
        </p:blipFill>
        <p:spPr>
          <a:xfrm>
            <a:off x="5805376" y="1051575"/>
            <a:ext cx="2831677" cy="2655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17;p3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8" name="Google Shape;18;p3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3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0" name="Google Shape;20;p3" title="Sin título-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33000" y="3371475"/>
            <a:ext cx="5515599" cy="1351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3" title="Sin título-4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5462" y="817950"/>
            <a:ext cx="5399452" cy="3024425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1860500" y="1532500"/>
            <a:ext cx="3459000" cy="1521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779673" y="1910725"/>
            <a:ext cx="778200" cy="764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5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3465325" y="3918575"/>
            <a:ext cx="5174400" cy="66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>
            <a:spLocks noGrp="1"/>
          </p:cNvSpPr>
          <p:nvPr>
            <p:ph type="pic" idx="3"/>
          </p:nvPr>
        </p:nvSpPr>
        <p:spPr>
          <a:xfrm flipH="1">
            <a:off x="6386650" y="947025"/>
            <a:ext cx="2107500" cy="2067600"/>
          </a:xfrm>
          <a:prstGeom prst="rect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oogle Shape;27;p4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28" name="Google Shape;28;p4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Google Shape;29;p4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Darker Grotesque SemiBold"/>
              <a:buChar char="●"/>
              <a:defRPr sz="1200">
                <a:solidFill>
                  <a:srgbClr val="434343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5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 txBox="1">
            <a:spLocks noGrp="1"/>
          </p:cNvSpPr>
          <p:nvPr>
            <p:ph type="subTitle" idx="1"/>
          </p:nvPr>
        </p:nvSpPr>
        <p:spPr>
          <a:xfrm>
            <a:off x="3540003" y="1330738"/>
            <a:ext cx="3941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ubTitle" idx="2"/>
          </p:nvPr>
        </p:nvSpPr>
        <p:spPr>
          <a:xfrm>
            <a:off x="3540003" y="3067776"/>
            <a:ext cx="3941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ubTitle" idx="3"/>
          </p:nvPr>
        </p:nvSpPr>
        <p:spPr>
          <a:xfrm>
            <a:off x="3540003" y="1827236"/>
            <a:ext cx="3941400" cy="116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4"/>
          </p:nvPr>
        </p:nvSpPr>
        <p:spPr>
          <a:xfrm>
            <a:off x="3540003" y="3564275"/>
            <a:ext cx="3941400" cy="116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573700" cy="602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pic>
        <p:nvPicPr>
          <p:cNvPr id="39" name="Google Shape;39;p5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oogle Shape;41;p6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42" name="Google Shape;42;p6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" name="Google Shape;43;p6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460300" cy="602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pic>
        <p:nvPicPr>
          <p:cNvPr id="45" name="Google Shape;45;p6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oogle Shape;47;p7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48" name="Google Shape;48;p7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" name="Google Shape;49;p7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body" idx="1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>
            <a:spLocks noGrp="1"/>
          </p:cNvSpPr>
          <p:nvPr>
            <p:ph type="pic" idx="2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oogle Shape;54;p8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55" name="Google Shape;55;p8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56;p8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7" name="Google Shape;57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oogle Shape;59;p9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60" name="Google Shape;60;p9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61;p9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2" name="Google Shape;62;p9"/>
          <p:cNvSpPr txBox="1">
            <a:spLocks noGrp="1"/>
          </p:cNvSpPr>
          <p:nvPr>
            <p:ph type="subTitle" idx="1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ubTitle" idx="2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oogle Shape;71;p11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72" name="Google Shape;72;p11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3" name="Google Shape;73;p11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4" name="Google Shape;74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75" name="Google Shape;75;p11"/>
          <p:cNvSpPr txBox="1">
            <a:spLocks noGrp="1"/>
          </p:cNvSpPr>
          <p:nvPr>
            <p:ph type="subTitle" idx="1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2_1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3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453400" cy="6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1"/>
          </p:nvPr>
        </p:nvSpPr>
        <p:spPr>
          <a:xfrm>
            <a:off x="1107250" y="179662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subTitle" idx="2"/>
          </p:nvPr>
        </p:nvSpPr>
        <p:spPr>
          <a:xfrm>
            <a:off x="1107250" y="2442833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3"/>
          </p:nvPr>
        </p:nvSpPr>
        <p:spPr>
          <a:xfrm>
            <a:off x="1107250" y="3089042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ubTitle" idx="4"/>
          </p:nvPr>
        </p:nvSpPr>
        <p:spPr>
          <a:xfrm>
            <a:off x="1107250" y="3735250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subTitle" idx="5"/>
          </p:nvPr>
        </p:nvSpPr>
        <p:spPr>
          <a:xfrm>
            <a:off x="4851600" y="179662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ubTitle" idx="6"/>
          </p:nvPr>
        </p:nvSpPr>
        <p:spPr>
          <a:xfrm>
            <a:off x="4851600" y="2442831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subTitle" idx="7"/>
          </p:nvPr>
        </p:nvSpPr>
        <p:spPr>
          <a:xfrm>
            <a:off x="4851600" y="308903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8"/>
          </p:nvPr>
        </p:nvSpPr>
        <p:spPr>
          <a:xfrm>
            <a:off x="4851600" y="3735244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title" idx="9" hasCustomPrompt="1"/>
          </p:nvPr>
        </p:nvSpPr>
        <p:spPr>
          <a:xfrm>
            <a:off x="341850" y="3849550"/>
            <a:ext cx="7653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9" name="Google Shape;89;p13"/>
          <p:cNvSpPr txBox="1">
            <a:spLocks noGrp="1"/>
          </p:cNvSpPr>
          <p:nvPr>
            <p:ph type="title" idx="13" hasCustomPrompt="1"/>
          </p:nvPr>
        </p:nvSpPr>
        <p:spPr>
          <a:xfrm>
            <a:off x="341850" y="2560850"/>
            <a:ext cx="7653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0" name="Google Shape;90;p13"/>
          <p:cNvSpPr txBox="1">
            <a:spLocks noGrp="1"/>
          </p:cNvSpPr>
          <p:nvPr>
            <p:ph type="title" idx="14" hasCustomPrompt="1"/>
          </p:nvPr>
        </p:nvSpPr>
        <p:spPr>
          <a:xfrm>
            <a:off x="342582" y="1916800"/>
            <a:ext cx="7641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 idx="15" hasCustomPrompt="1"/>
          </p:nvPr>
        </p:nvSpPr>
        <p:spPr>
          <a:xfrm>
            <a:off x="341850" y="3205200"/>
            <a:ext cx="7653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16" hasCustomPrompt="1"/>
          </p:nvPr>
        </p:nvSpPr>
        <p:spPr>
          <a:xfrm>
            <a:off x="3985789" y="2561048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title" idx="17" hasCustomPrompt="1"/>
          </p:nvPr>
        </p:nvSpPr>
        <p:spPr>
          <a:xfrm>
            <a:off x="3985787" y="3205296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4" name="Google Shape;94;p13"/>
          <p:cNvSpPr txBox="1">
            <a:spLocks noGrp="1"/>
          </p:cNvSpPr>
          <p:nvPr>
            <p:ph type="title" idx="18" hasCustomPrompt="1"/>
          </p:nvPr>
        </p:nvSpPr>
        <p:spPr>
          <a:xfrm>
            <a:off x="3985789" y="3849544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19" hasCustomPrompt="1"/>
          </p:nvPr>
        </p:nvSpPr>
        <p:spPr>
          <a:xfrm>
            <a:off x="3985789" y="1916800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pic>
        <p:nvPicPr>
          <p:cNvPr id="96" name="Google Shape;96;p13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4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>
            <a:spLocks noGrp="1"/>
          </p:cNvSpPr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2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ubTitle" idx="1"/>
          </p:nvPr>
        </p:nvSpPr>
        <p:spPr>
          <a:xfrm>
            <a:off x="1522850" y="1816950"/>
            <a:ext cx="6918600" cy="25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01" name="Google Shape;101;p14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ONE_COLUMN_TEXT_1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15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>
            <a:spLocks noGrp="1"/>
          </p:cNvSpPr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5"/>
          <p:cNvSpPr txBox="1">
            <a:spLocks noGrp="1"/>
          </p:cNvSpPr>
          <p:nvPr>
            <p:ph type="body" idx="1"/>
          </p:nvPr>
        </p:nvSpPr>
        <p:spPr>
          <a:xfrm>
            <a:off x="3789425" y="2229300"/>
            <a:ext cx="4940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06" name="Google Shape;106;p15"/>
          <p:cNvSpPr>
            <a:spLocks noGrp="1"/>
          </p:cNvSpPr>
          <p:nvPr>
            <p:ph type="pic" idx="2"/>
          </p:nvPr>
        </p:nvSpPr>
        <p:spPr>
          <a:xfrm>
            <a:off x="522525" y="1195150"/>
            <a:ext cx="2947200" cy="33414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sp>
      <p:pic>
        <p:nvPicPr>
          <p:cNvPr id="107" name="Google Shape;107;p15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2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17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14" name="Google Shape;114;p17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5" name="Google Shape;115;p17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6" name="Google Shape;116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8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8"/>
          <p:cNvSpPr txBox="1">
            <a:spLocks noGrp="1"/>
          </p:cNvSpPr>
          <p:nvPr>
            <p:ph type="subTitle" idx="1"/>
          </p:nvPr>
        </p:nvSpPr>
        <p:spPr>
          <a:xfrm>
            <a:off x="3145041" y="2118945"/>
            <a:ext cx="2599200" cy="20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8"/>
          <p:cNvSpPr txBox="1">
            <a:spLocks noGrp="1"/>
          </p:cNvSpPr>
          <p:nvPr>
            <p:ph type="subTitle" idx="2"/>
          </p:nvPr>
        </p:nvSpPr>
        <p:spPr>
          <a:xfrm>
            <a:off x="341850" y="2118945"/>
            <a:ext cx="2599200" cy="20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18"/>
          <p:cNvSpPr txBox="1">
            <a:spLocks noGrp="1"/>
          </p:cNvSpPr>
          <p:nvPr>
            <p:ph type="subTitle" idx="3"/>
          </p:nvPr>
        </p:nvSpPr>
        <p:spPr>
          <a:xfrm>
            <a:off x="5948257" y="2118945"/>
            <a:ext cx="2599200" cy="20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8"/>
          <p:cNvSpPr txBox="1">
            <a:spLocks noGrp="1"/>
          </p:cNvSpPr>
          <p:nvPr>
            <p:ph type="title" hasCustomPrompt="1"/>
          </p:nvPr>
        </p:nvSpPr>
        <p:spPr>
          <a:xfrm>
            <a:off x="3144432" y="1706300"/>
            <a:ext cx="6987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23" name="Google Shape;123;p18"/>
          <p:cNvSpPr txBox="1">
            <a:spLocks noGrp="1"/>
          </p:cNvSpPr>
          <p:nvPr>
            <p:ph type="title" idx="4" hasCustomPrompt="1"/>
          </p:nvPr>
        </p:nvSpPr>
        <p:spPr>
          <a:xfrm>
            <a:off x="341854" y="1706450"/>
            <a:ext cx="6975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24" name="Google Shape;124;p18"/>
          <p:cNvSpPr txBox="1">
            <a:spLocks noGrp="1"/>
          </p:cNvSpPr>
          <p:nvPr>
            <p:ph type="title" idx="5" hasCustomPrompt="1"/>
          </p:nvPr>
        </p:nvSpPr>
        <p:spPr>
          <a:xfrm>
            <a:off x="5948295" y="1706300"/>
            <a:ext cx="6987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25" name="Google Shape;125;p18"/>
          <p:cNvSpPr txBox="1">
            <a:spLocks noGrp="1"/>
          </p:cNvSpPr>
          <p:nvPr>
            <p:ph type="title" idx="6"/>
          </p:nvPr>
        </p:nvSpPr>
        <p:spPr>
          <a:xfrm>
            <a:off x="341850" y="654800"/>
            <a:ext cx="8249700" cy="60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pic>
        <p:nvPicPr>
          <p:cNvPr id="126" name="Google Shape;126;p18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BLANK_1_1_1_1_1_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oogle Shape;144;p20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45" name="Google Shape;145;p20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6" name="Google Shape;146;p20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7" name="Google Shape;147;p20"/>
          <p:cNvSpPr txBox="1">
            <a:spLocks noGrp="1"/>
          </p:cNvSpPr>
          <p:nvPr>
            <p:ph type="title" hasCustomPrompt="1"/>
          </p:nvPr>
        </p:nvSpPr>
        <p:spPr>
          <a:xfrm>
            <a:off x="792825" y="974863"/>
            <a:ext cx="3876600" cy="75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45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48" name="Google Shape;148;p20"/>
          <p:cNvSpPr txBox="1">
            <a:spLocks noGrp="1"/>
          </p:cNvSpPr>
          <p:nvPr>
            <p:ph type="subTitle" idx="1"/>
          </p:nvPr>
        </p:nvSpPr>
        <p:spPr>
          <a:xfrm>
            <a:off x="792825" y="1629188"/>
            <a:ext cx="3876600" cy="44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0"/>
          <p:cNvSpPr txBox="1">
            <a:spLocks noGrp="1"/>
          </p:cNvSpPr>
          <p:nvPr>
            <p:ph type="title" idx="2" hasCustomPrompt="1"/>
          </p:nvPr>
        </p:nvSpPr>
        <p:spPr>
          <a:xfrm>
            <a:off x="4298725" y="2743425"/>
            <a:ext cx="3929100" cy="75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45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50" name="Google Shape;150;p20"/>
          <p:cNvSpPr txBox="1">
            <a:spLocks noGrp="1"/>
          </p:cNvSpPr>
          <p:nvPr>
            <p:ph type="subTitle" idx="3"/>
          </p:nvPr>
        </p:nvSpPr>
        <p:spPr>
          <a:xfrm>
            <a:off x="4298725" y="3498224"/>
            <a:ext cx="3929100" cy="44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0" name="Google Shape;160;p22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61" name="Google Shape;161;p22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2" name="Google Shape;162;p22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3" r:id="rId14"/>
    <p:sldLayoutId id="2147483664" r:id="rId15"/>
    <p:sldLayoutId id="2147483666" r:id="rId16"/>
    <p:sldLayoutId id="2147483668" r:id="rId17"/>
    <p:sldLayoutId id="2147483669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Machine_Logisim3.circ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PARM_error_test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a_U0f8Z8xjU8Zf5EdLGud3Xe3KNRaufZWkjVgit4xNw/copy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hyperlink" Target="file:///C:\Code\PARM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28" title="nature-landscape-with-vegetation-flora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31657" t="9673" r="9487"/>
          <a:stretch/>
        </p:blipFill>
        <p:spPr>
          <a:xfrm>
            <a:off x="5805375" y="1317075"/>
            <a:ext cx="2831677" cy="2648200"/>
          </a:xfrm>
          <a:prstGeom prst="rect">
            <a:avLst/>
          </a:prstGeom>
        </p:spPr>
      </p:pic>
      <p:sp>
        <p:nvSpPr>
          <p:cNvPr id="180" name="Google Shape;180;p28"/>
          <p:cNvSpPr txBox="1">
            <a:spLocks noGrp="1"/>
          </p:cNvSpPr>
          <p:nvPr>
            <p:ph type="ctrTitle"/>
          </p:nvPr>
        </p:nvSpPr>
        <p:spPr>
          <a:xfrm>
            <a:off x="606800" y="849600"/>
            <a:ext cx="5060700" cy="24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Projet PARM</a:t>
            </a:r>
            <a:r>
              <a:rPr lang="en" dirty="0"/>
              <a:t> </a:t>
            </a:r>
            <a:endParaRPr dirty="0"/>
          </a:p>
          <a:p>
            <a:pPr lvl="0"/>
            <a:r>
              <a:rPr lang="fr-FR" dirty="0"/>
              <a:t>Processeur Polytech-ARM Cortex-M </a:t>
            </a:r>
            <a:endParaRPr dirty="0"/>
          </a:p>
        </p:txBody>
      </p:sp>
      <p:sp>
        <p:nvSpPr>
          <p:cNvPr id="181" name="Google Shape;181;p28"/>
          <p:cNvSpPr txBox="1">
            <a:spLocks noGrp="1"/>
          </p:cNvSpPr>
          <p:nvPr>
            <p:ph type="subTitle" idx="1"/>
          </p:nvPr>
        </p:nvSpPr>
        <p:spPr>
          <a:xfrm>
            <a:off x="559754" y="3549627"/>
            <a:ext cx="4351500" cy="11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fr-FR" dirty="0"/>
              <a:t>(simulation </a:t>
            </a:r>
            <a:r>
              <a:rPr lang="fr-FR" dirty="0" err="1"/>
              <a:t>Logisim</a:t>
            </a:r>
            <a:r>
              <a:rPr lang="fr-FR" dirty="0"/>
              <a:t>)</a:t>
            </a:r>
            <a:endParaRPr dirty="0"/>
          </a:p>
        </p:txBody>
      </p:sp>
      <p:sp>
        <p:nvSpPr>
          <p:cNvPr id="182" name="Google Shape;182;p28"/>
          <p:cNvSpPr txBox="1"/>
          <p:nvPr/>
        </p:nvSpPr>
        <p:spPr>
          <a:xfrm>
            <a:off x="435854" y="205291"/>
            <a:ext cx="44754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600" dirty="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Ezedine / Samy / Othman / Eliot</a:t>
            </a:r>
            <a:endParaRPr sz="1600" dirty="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9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460300" cy="6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Agenda &amp; contraintes du projet</a:t>
            </a:r>
            <a:endParaRPr dirty="0"/>
          </a:p>
        </p:txBody>
      </p:sp>
      <p:sp>
        <p:nvSpPr>
          <p:cNvPr id="189" name="Google Shape;189;p29"/>
          <p:cNvSpPr/>
          <p:nvPr/>
        </p:nvSpPr>
        <p:spPr>
          <a:xfrm>
            <a:off x="1142331" y="1798492"/>
            <a:ext cx="1371900" cy="4059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100" b="1" u="sng" dirty="0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</a:rPr>
              <a:t>Agenda</a:t>
            </a:r>
            <a:endParaRPr sz="1100" b="1" u="sng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0" name="Google Shape;190;p29"/>
          <p:cNvSpPr txBox="1"/>
          <p:nvPr/>
        </p:nvSpPr>
        <p:spPr>
          <a:xfrm>
            <a:off x="809793" y="2345680"/>
            <a:ext cx="2376752" cy="2111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1. </a:t>
            </a:r>
            <a:r>
              <a:rPr lang="en-US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Slides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: </a:t>
            </a:r>
            <a:r>
              <a:rPr lang="en-US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compréhension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globale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+ architecture (~4 min)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2. </a:t>
            </a:r>
            <a:r>
              <a:rPr lang="en-US" sz="1000" b="1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Démo</a:t>
            </a:r>
            <a:r>
              <a:rPr lang="en-US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CPU Logisim 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:  </a:t>
            </a:r>
            <a:r>
              <a:rPr lang="en-US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exécution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pas-à-pas (~2 min)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3. </a:t>
            </a:r>
            <a:r>
              <a:rPr lang="en-US" sz="1000" b="1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Démo</a:t>
            </a:r>
            <a:r>
              <a:rPr lang="en-US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00" b="1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assembleur</a:t>
            </a:r>
            <a:r>
              <a:rPr lang="en-US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:                 .s → .hex Logisim (~2 min)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4. </a:t>
            </a:r>
            <a:r>
              <a:rPr lang="en-US" sz="1000" b="1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Démo</a:t>
            </a:r>
            <a:r>
              <a:rPr lang="en-US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tests 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+                       </a:t>
            </a:r>
            <a:r>
              <a:rPr lang="en-US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taux</a:t>
            </a: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de couverture (~2 min)</a:t>
            </a:r>
          </a:p>
        </p:txBody>
      </p:sp>
      <p:sp>
        <p:nvSpPr>
          <p:cNvPr id="191" name="Google Shape;191;p29"/>
          <p:cNvSpPr/>
          <p:nvPr/>
        </p:nvSpPr>
        <p:spPr>
          <a:xfrm>
            <a:off x="0" y="4801425"/>
            <a:ext cx="9144000" cy="342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pic>
        <p:nvPicPr>
          <p:cNvPr id="192" name="Google Shape;192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06800" y="4906625"/>
            <a:ext cx="861701" cy="13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9"/>
          <p:cNvSpPr/>
          <p:nvPr/>
        </p:nvSpPr>
        <p:spPr>
          <a:xfrm>
            <a:off x="3719775" y="1814105"/>
            <a:ext cx="1704450" cy="4059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100" b="1" u="sng" dirty="0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</a:rPr>
              <a:t>Cadre / contraintes imposées</a:t>
            </a:r>
            <a:endParaRPr sz="1100" b="1" u="sng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4" name="Google Shape;194;p29"/>
          <p:cNvSpPr txBox="1"/>
          <p:nvPr/>
        </p:nvSpPr>
        <p:spPr>
          <a:xfrm>
            <a:off x="3336453" y="2306666"/>
            <a:ext cx="2810871" cy="2322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ISA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: </a:t>
            </a:r>
            <a:r>
              <a:rPr lang="fr-FR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Thumb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16 bits (instructions sur 16 bits), données 32 bits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Mémoire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: ROM (programme) + RAM (données) dans </a:t>
            </a:r>
            <a:r>
              <a:rPr lang="fr-FR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Logisim</a:t>
            </a:r>
            <a:endParaRPr lang="fr-FR"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Timing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: LDR/STR = 2 cycles, le reste = 1 cycle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b="1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Objectif soutenance 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: expliquer tout le fonctionnement, puis montrer le test fonctionnel le plus complet</a:t>
            </a:r>
            <a:endParaRPr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5" name="Google Shape;195;p29"/>
          <p:cNvSpPr/>
          <p:nvPr/>
        </p:nvSpPr>
        <p:spPr>
          <a:xfrm>
            <a:off x="6463495" y="1752261"/>
            <a:ext cx="1704450" cy="4059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100" b="1" u="sng" dirty="0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</a:rPr>
              <a:t>Ce qu’on va prouver aujourd’hui</a:t>
            </a:r>
            <a:endParaRPr sz="1100" b="1" u="sng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6" name="Google Shape;196;p29"/>
          <p:cNvSpPr txBox="1"/>
          <p:nvPr/>
        </p:nvSpPr>
        <p:spPr>
          <a:xfrm>
            <a:off x="6251818" y="2283012"/>
            <a:ext cx="2448837" cy="1100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Que la chaîne complète fonctionne :</a:t>
            </a:r>
          </a:p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assembleur → ROM → CPU </a:t>
            </a:r>
            <a:r>
              <a:rPr lang="fr-FR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Logisim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→ résultat + tests/couverture.</a:t>
            </a:r>
            <a:endParaRPr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8" name="Google Shape;1968;p52">
            <a:extLst>
              <a:ext uri="{FF2B5EF4-FFF2-40B4-BE49-F238E27FC236}">
                <a16:creationId xmlns:a16="http://schemas.microsoft.com/office/drawing/2014/main" id="{F891678C-C938-61CC-9D03-277EC1105BB3}"/>
              </a:ext>
            </a:extLst>
          </p:cNvPr>
          <p:cNvGrpSpPr/>
          <p:nvPr/>
        </p:nvGrpSpPr>
        <p:grpSpPr>
          <a:xfrm>
            <a:off x="7036386" y="3458987"/>
            <a:ext cx="879699" cy="998200"/>
            <a:chOff x="6870193" y="2295620"/>
            <a:chExt cx="360356" cy="343462"/>
          </a:xfrm>
        </p:grpSpPr>
        <p:sp>
          <p:nvSpPr>
            <p:cNvPr id="9" name="Google Shape;1969;p52">
              <a:extLst>
                <a:ext uri="{FF2B5EF4-FFF2-40B4-BE49-F238E27FC236}">
                  <a16:creationId xmlns:a16="http://schemas.microsoft.com/office/drawing/2014/main" id="{58A3A435-EEAA-26F9-5709-BCBFB1908008}"/>
                </a:ext>
              </a:extLst>
            </p:cNvPr>
            <p:cNvSpPr/>
            <p:nvPr/>
          </p:nvSpPr>
          <p:spPr>
            <a:xfrm>
              <a:off x="6870193" y="2295620"/>
              <a:ext cx="360356" cy="343462"/>
            </a:xfrm>
            <a:custGeom>
              <a:avLst/>
              <a:gdLst/>
              <a:ahLst/>
              <a:cxnLst/>
              <a:rect l="l" t="t" r="r" b="b"/>
              <a:pathLst>
                <a:path w="11348" h="10816" extrusionOk="0">
                  <a:moveTo>
                    <a:pt x="6027" y="0"/>
                  </a:moveTo>
                  <a:cubicBezTo>
                    <a:pt x="5700" y="0"/>
                    <a:pt x="5448" y="70"/>
                    <a:pt x="5430" y="76"/>
                  </a:cubicBezTo>
                  <a:cubicBezTo>
                    <a:pt x="5358" y="112"/>
                    <a:pt x="5299" y="172"/>
                    <a:pt x="5299" y="255"/>
                  </a:cubicBezTo>
                  <a:lnTo>
                    <a:pt x="5299" y="2731"/>
                  </a:lnTo>
                  <a:lnTo>
                    <a:pt x="3501" y="5017"/>
                  </a:lnTo>
                  <a:cubicBezTo>
                    <a:pt x="3441" y="4767"/>
                    <a:pt x="3215" y="4577"/>
                    <a:pt x="2929" y="4577"/>
                  </a:cubicBezTo>
                  <a:lnTo>
                    <a:pt x="584" y="4577"/>
                  </a:lnTo>
                  <a:cubicBezTo>
                    <a:pt x="274" y="4577"/>
                    <a:pt x="1" y="4827"/>
                    <a:pt x="1" y="5160"/>
                  </a:cubicBezTo>
                  <a:lnTo>
                    <a:pt x="1" y="5732"/>
                  </a:lnTo>
                  <a:cubicBezTo>
                    <a:pt x="1" y="5839"/>
                    <a:pt x="96" y="5910"/>
                    <a:pt x="179" y="5910"/>
                  </a:cubicBezTo>
                  <a:cubicBezTo>
                    <a:pt x="274" y="5910"/>
                    <a:pt x="358" y="5827"/>
                    <a:pt x="358" y="5732"/>
                  </a:cubicBezTo>
                  <a:lnTo>
                    <a:pt x="358" y="5160"/>
                  </a:lnTo>
                  <a:cubicBezTo>
                    <a:pt x="358" y="5041"/>
                    <a:pt x="453" y="4946"/>
                    <a:pt x="572" y="4946"/>
                  </a:cubicBezTo>
                  <a:lnTo>
                    <a:pt x="2918" y="4946"/>
                  </a:lnTo>
                  <a:cubicBezTo>
                    <a:pt x="3037" y="4946"/>
                    <a:pt x="3132" y="5041"/>
                    <a:pt x="3132" y="5160"/>
                  </a:cubicBezTo>
                  <a:lnTo>
                    <a:pt x="3132" y="10232"/>
                  </a:lnTo>
                  <a:cubicBezTo>
                    <a:pt x="3132" y="10351"/>
                    <a:pt x="3037" y="10435"/>
                    <a:pt x="2918" y="10435"/>
                  </a:cubicBezTo>
                  <a:lnTo>
                    <a:pt x="572" y="10435"/>
                  </a:lnTo>
                  <a:cubicBezTo>
                    <a:pt x="453" y="10435"/>
                    <a:pt x="358" y="10351"/>
                    <a:pt x="358" y="10232"/>
                  </a:cubicBezTo>
                  <a:lnTo>
                    <a:pt x="358" y="6506"/>
                  </a:lnTo>
                  <a:cubicBezTo>
                    <a:pt x="358" y="6410"/>
                    <a:pt x="274" y="6327"/>
                    <a:pt x="179" y="6327"/>
                  </a:cubicBezTo>
                  <a:cubicBezTo>
                    <a:pt x="72" y="6327"/>
                    <a:pt x="1" y="6422"/>
                    <a:pt x="1" y="6506"/>
                  </a:cubicBezTo>
                  <a:lnTo>
                    <a:pt x="1" y="10232"/>
                  </a:lnTo>
                  <a:cubicBezTo>
                    <a:pt x="1" y="10542"/>
                    <a:pt x="251" y="10816"/>
                    <a:pt x="584" y="10816"/>
                  </a:cubicBezTo>
                  <a:lnTo>
                    <a:pt x="2929" y="10816"/>
                  </a:lnTo>
                  <a:cubicBezTo>
                    <a:pt x="3251" y="10816"/>
                    <a:pt x="3513" y="10554"/>
                    <a:pt x="3513" y="10232"/>
                  </a:cubicBezTo>
                  <a:lnTo>
                    <a:pt x="3513" y="9744"/>
                  </a:lnTo>
                  <a:lnTo>
                    <a:pt x="4418" y="10185"/>
                  </a:lnTo>
                  <a:cubicBezTo>
                    <a:pt x="4453" y="10197"/>
                    <a:pt x="4477" y="10197"/>
                    <a:pt x="4513" y="10197"/>
                  </a:cubicBezTo>
                  <a:lnTo>
                    <a:pt x="8025" y="10197"/>
                  </a:lnTo>
                  <a:cubicBezTo>
                    <a:pt x="8132" y="10197"/>
                    <a:pt x="8204" y="10113"/>
                    <a:pt x="8204" y="10018"/>
                  </a:cubicBezTo>
                  <a:cubicBezTo>
                    <a:pt x="8204" y="9923"/>
                    <a:pt x="8109" y="9839"/>
                    <a:pt x="8025" y="9839"/>
                  </a:cubicBezTo>
                  <a:lnTo>
                    <a:pt x="4561" y="9839"/>
                  </a:lnTo>
                  <a:lnTo>
                    <a:pt x="3525" y="9327"/>
                  </a:lnTo>
                  <a:lnTo>
                    <a:pt x="3525" y="5589"/>
                  </a:lnTo>
                  <a:lnTo>
                    <a:pt x="5644" y="2910"/>
                  </a:lnTo>
                  <a:cubicBezTo>
                    <a:pt x="5668" y="2874"/>
                    <a:pt x="5692" y="2839"/>
                    <a:pt x="5692" y="2791"/>
                  </a:cubicBezTo>
                  <a:lnTo>
                    <a:pt x="5692" y="398"/>
                  </a:lnTo>
                  <a:cubicBezTo>
                    <a:pt x="5787" y="379"/>
                    <a:pt x="5924" y="358"/>
                    <a:pt x="6080" y="358"/>
                  </a:cubicBezTo>
                  <a:cubicBezTo>
                    <a:pt x="6313" y="358"/>
                    <a:pt x="6587" y="405"/>
                    <a:pt x="6823" y="576"/>
                  </a:cubicBezTo>
                  <a:cubicBezTo>
                    <a:pt x="7132" y="791"/>
                    <a:pt x="7275" y="1207"/>
                    <a:pt x="7275" y="1803"/>
                  </a:cubicBezTo>
                  <a:lnTo>
                    <a:pt x="7275" y="3755"/>
                  </a:lnTo>
                  <a:cubicBezTo>
                    <a:pt x="7275" y="3862"/>
                    <a:pt x="7370" y="3934"/>
                    <a:pt x="7454" y="3934"/>
                  </a:cubicBezTo>
                  <a:lnTo>
                    <a:pt x="10395" y="3934"/>
                  </a:lnTo>
                  <a:cubicBezTo>
                    <a:pt x="10716" y="3934"/>
                    <a:pt x="10990" y="4208"/>
                    <a:pt x="10990" y="4529"/>
                  </a:cubicBezTo>
                  <a:cubicBezTo>
                    <a:pt x="10990" y="4863"/>
                    <a:pt x="10716" y="5125"/>
                    <a:pt x="10395" y="5125"/>
                  </a:cubicBezTo>
                  <a:lnTo>
                    <a:pt x="8823" y="5125"/>
                  </a:lnTo>
                  <a:cubicBezTo>
                    <a:pt x="8728" y="5125"/>
                    <a:pt x="8644" y="5220"/>
                    <a:pt x="8644" y="5303"/>
                  </a:cubicBezTo>
                  <a:cubicBezTo>
                    <a:pt x="8644" y="5410"/>
                    <a:pt x="8740" y="5482"/>
                    <a:pt x="8823" y="5482"/>
                  </a:cubicBezTo>
                  <a:lnTo>
                    <a:pt x="10228" y="5482"/>
                  </a:lnTo>
                  <a:cubicBezTo>
                    <a:pt x="10538" y="5494"/>
                    <a:pt x="10788" y="5767"/>
                    <a:pt x="10788" y="6077"/>
                  </a:cubicBezTo>
                  <a:cubicBezTo>
                    <a:pt x="10788" y="6399"/>
                    <a:pt x="10526" y="6672"/>
                    <a:pt x="10192" y="6672"/>
                  </a:cubicBezTo>
                  <a:lnTo>
                    <a:pt x="8823" y="6672"/>
                  </a:lnTo>
                  <a:cubicBezTo>
                    <a:pt x="8728" y="6672"/>
                    <a:pt x="8644" y="6768"/>
                    <a:pt x="8644" y="6851"/>
                  </a:cubicBezTo>
                  <a:cubicBezTo>
                    <a:pt x="8644" y="6958"/>
                    <a:pt x="8740" y="7030"/>
                    <a:pt x="8823" y="7030"/>
                  </a:cubicBezTo>
                  <a:lnTo>
                    <a:pt x="10073" y="7030"/>
                  </a:lnTo>
                  <a:cubicBezTo>
                    <a:pt x="10371" y="7053"/>
                    <a:pt x="10597" y="7327"/>
                    <a:pt x="10597" y="7625"/>
                  </a:cubicBezTo>
                  <a:cubicBezTo>
                    <a:pt x="10597" y="7946"/>
                    <a:pt x="10335" y="8220"/>
                    <a:pt x="10002" y="8220"/>
                  </a:cubicBezTo>
                  <a:lnTo>
                    <a:pt x="8823" y="8220"/>
                  </a:lnTo>
                  <a:cubicBezTo>
                    <a:pt x="8728" y="8220"/>
                    <a:pt x="8644" y="8315"/>
                    <a:pt x="8644" y="8399"/>
                  </a:cubicBezTo>
                  <a:cubicBezTo>
                    <a:pt x="8644" y="8506"/>
                    <a:pt x="8740" y="8577"/>
                    <a:pt x="8823" y="8577"/>
                  </a:cubicBezTo>
                  <a:lnTo>
                    <a:pt x="9883" y="8577"/>
                  </a:lnTo>
                  <a:cubicBezTo>
                    <a:pt x="9895" y="8577"/>
                    <a:pt x="9918" y="8589"/>
                    <a:pt x="9918" y="8589"/>
                  </a:cubicBezTo>
                  <a:cubicBezTo>
                    <a:pt x="10192" y="8649"/>
                    <a:pt x="10407" y="8887"/>
                    <a:pt x="10407" y="9185"/>
                  </a:cubicBezTo>
                  <a:cubicBezTo>
                    <a:pt x="10407" y="9518"/>
                    <a:pt x="10133" y="9780"/>
                    <a:pt x="9811" y="9780"/>
                  </a:cubicBezTo>
                  <a:lnTo>
                    <a:pt x="8823" y="9780"/>
                  </a:lnTo>
                  <a:cubicBezTo>
                    <a:pt x="8728" y="9780"/>
                    <a:pt x="8644" y="9875"/>
                    <a:pt x="8644" y="9958"/>
                  </a:cubicBezTo>
                  <a:cubicBezTo>
                    <a:pt x="8644" y="10066"/>
                    <a:pt x="8740" y="10137"/>
                    <a:pt x="8823" y="10137"/>
                  </a:cubicBezTo>
                  <a:lnTo>
                    <a:pt x="9811" y="10137"/>
                  </a:lnTo>
                  <a:cubicBezTo>
                    <a:pt x="10347" y="10137"/>
                    <a:pt x="10776" y="9708"/>
                    <a:pt x="10776" y="9173"/>
                  </a:cubicBezTo>
                  <a:cubicBezTo>
                    <a:pt x="10776" y="8887"/>
                    <a:pt x="10657" y="8637"/>
                    <a:pt x="10466" y="8458"/>
                  </a:cubicBezTo>
                  <a:cubicBezTo>
                    <a:pt x="10764" y="8292"/>
                    <a:pt x="10966" y="7982"/>
                    <a:pt x="10966" y="7613"/>
                  </a:cubicBezTo>
                  <a:cubicBezTo>
                    <a:pt x="10966" y="7327"/>
                    <a:pt x="10847" y="7077"/>
                    <a:pt x="10657" y="6899"/>
                  </a:cubicBezTo>
                  <a:cubicBezTo>
                    <a:pt x="10954" y="6803"/>
                    <a:pt x="11145" y="6482"/>
                    <a:pt x="11145" y="6113"/>
                  </a:cubicBezTo>
                  <a:cubicBezTo>
                    <a:pt x="11145" y="5827"/>
                    <a:pt x="11026" y="5577"/>
                    <a:pt x="10835" y="5398"/>
                  </a:cubicBezTo>
                  <a:cubicBezTo>
                    <a:pt x="11133" y="5232"/>
                    <a:pt x="11347" y="4922"/>
                    <a:pt x="11347" y="4541"/>
                  </a:cubicBezTo>
                  <a:cubicBezTo>
                    <a:pt x="11347" y="4005"/>
                    <a:pt x="10907" y="3577"/>
                    <a:pt x="10371" y="3577"/>
                  </a:cubicBezTo>
                  <a:lnTo>
                    <a:pt x="7621" y="3577"/>
                  </a:lnTo>
                  <a:lnTo>
                    <a:pt x="7621" y="1827"/>
                  </a:lnTo>
                  <a:cubicBezTo>
                    <a:pt x="7621" y="1112"/>
                    <a:pt x="7418" y="588"/>
                    <a:pt x="7013" y="291"/>
                  </a:cubicBezTo>
                  <a:cubicBezTo>
                    <a:pt x="6703" y="61"/>
                    <a:pt x="6332" y="0"/>
                    <a:pt x="60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970;p52">
              <a:extLst>
                <a:ext uri="{FF2B5EF4-FFF2-40B4-BE49-F238E27FC236}">
                  <a16:creationId xmlns:a16="http://schemas.microsoft.com/office/drawing/2014/main" id="{E78C51C4-0451-503F-06C3-B522C91F3693}"/>
                </a:ext>
              </a:extLst>
            </p:cNvPr>
            <p:cNvSpPr/>
            <p:nvPr/>
          </p:nvSpPr>
          <p:spPr>
            <a:xfrm>
              <a:off x="6920842" y="2577064"/>
              <a:ext cx="36709" cy="36677"/>
            </a:xfrm>
            <a:custGeom>
              <a:avLst/>
              <a:gdLst/>
              <a:ahLst/>
              <a:cxnLst/>
              <a:rect l="l" t="t" r="r" b="b"/>
              <a:pathLst>
                <a:path w="1156" h="1155" extrusionOk="0">
                  <a:moveTo>
                    <a:pt x="584" y="369"/>
                  </a:moveTo>
                  <a:cubicBezTo>
                    <a:pt x="703" y="369"/>
                    <a:pt x="787" y="464"/>
                    <a:pt x="787" y="584"/>
                  </a:cubicBezTo>
                  <a:cubicBezTo>
                    <a:pt x="787" y="703"/>
                    <a:pt x="703" y="786"/>
                    <a:pt x="584" y="786"/>
                  </a:cubicBezTo>
                  <a:cubicBezTo>
                    <a:pt x="465" y="786"/>
                    <a:pt x="370" y="703"/>
                    <a:pt x="370" y="584"/>
                  </a:cubicBezTo>
                  <a:cubicBezTo>
                    <a:pt x="370" y="464"/>
                    <a:pt x="453" y="369"/>
                    <a:pt x="584" y="369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4"/>
                  </a:cubicBezTo>
                  <a:cubicBezTo>
                    <a:pt x="1" y="905"/>
                    <a:pt x="251" y="1155"/>
                    <a:pt x="584" y="1155"/>
                  </a:cubicBezTo>
                  <a:cubicBezTo>
                    <a:pt x="906" y="1155"/>
                    <a:pt x="1156" y="905"/>
                    <a:pt x="1156" y="584"/>
                  </a:cubicBezTo>
                  <a:cubicBezTo>
                    <a:pt x="1156" y="250"/>
                    <a:pt x="894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>
          <a:extLst>
            <a:ext uri="{FF2B5EF4-FFF2-40B4-BE49-F238E27FC236}">
              <a16:creationId xmlns:a16="http://schemas.microsoft.com/office/drawing/2014/main" id="{C853D26B-47EC-C10B-1A4F-1BB75CD0F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9">
            <a:extLst>
              <a:ext uri="{FF2B5EF4-FFF2-40B4-BE49-F238E27FC236}">
                <a16:creationId xmlns:a16="http://schemas.microsoft.com/office/drawing/2014/main" id="{E337FDBA-9C6D-7BBB-2074-B9EFC392BE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460300" cy="6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Répartition des tâches</a:t>
            </a:r>
            <a:endParaRPr dirty="0"/>
          </a:p>
        </p:txBody>
      </p:sp>
      <p:sp>
        <p:nvSpPr>
          <p:cNvPr id="189" name="Google Shape;189;p29">
            <a:extLst>
              <a:ext uri="{FF2B5EF4-FFF2-40B4-BE49-F238E27FC236}">
                <a16:creationId xmlns:a16="http://schemas.microsoft.com/office/drawing/2014/main" id="{18AB3CFB-4632-20FC-EB5E-BDEE6512423B}"/>
              </a:ext>
            </a:extLst>
          </p:cNvPr>
          <p:cNvSpPr/>
          <p:nvPr/>
        </p:nvSpPr>
        <p:spPr>
          <a:xfrm>
            <a:off x="680984" y="1830088"/>
            <a:ext cx="1371900" cy="4059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100" b="1" dirty="0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</a:rPr>
              <a:t>Othman</a:t>
            </a:r>
            <a:endParaRPr sz="1100" b="1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0" name="Google Shape;190;p29">
            <a:extLst>
              <a:ext uri="{FF2B5EF4-FFF2-40B4-BE49-F238E27FC236}">
                <a16:creationId xmlns:a16="http://schemas.microsoft.com/office/drawing/2014/main" id="{ECEE4551-002D-B9F2-32A2-3D53B12CAD4E}"/>
              </a:ext>
            </a:extLst>
          </p:cNvPr>
          <p:cNvSpPr txBox="1"/>
          <p:nvPr/>
        </p:nvSpPr>
        <p:spPr>
          <a:xfrm>
            <a:off x="341850" y="2367138"/>
            <a:ext cx="2376752" cy="2111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ALU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Shift, add, sub, mov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Conditional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1" name="Google Shape;191;p29">
            <a:extLst>
              <a:ext uri="{FF2B5EF4-FFF2-40B4-BE49-F238E27FC236}">
                <a16:creationId xmlns:a16="http://schemas.microsoft.com/office/drawing/2014/main" id="{2FF1F0DC-3B3E-2430-CEA9-CF6843786174}"/>
              </a:ext>
            </a:extLst>
          </p:cNvPr>
          <p:cNvSpPr/>
          <p:nvPr/>
        </p:nvSpPr>
        <p:spPr>
          <a:xfrm>
            <a:off x="0" y="4801425"/>
            <a:ext cx="9144000" cy="342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pic>
        <p:nvPicPr>
          <p:cNvPr id="192" name="Google Shape;192;p29">
            <a:extLst>
              <a:ext uri="{FF2B5EF4-FFF2-40B4-BE49-F238E27FC236}">
                <a16:creationId xmlns:a16="http://schemas.microsoft.com/office/drawing/2014/main" id="{359DD5E6-4A5C-6B78-7BDD-D87F15B5B28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06800" y="4906625"/>
            <a:ext cx="861701" cy="13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9">
            <a:extLst>
              <a:ext uri="{FF2B5EF4-FFF2-40B4-BE49-F238E27FC236}">
                <a16:creationId xmlns:a16="http://schemas.microsoft.com/office/drawing/2014/main" id="{0C2DC45E-5F05-0D32-2989-3288636F1FA9}"/>
              </a:ext>
            </a:extLst>
          </p:cNvPr>
          <p:cNvSpPr/>
          <p:nvPr/>
        </p:nvSpPr>
        <p:spPr>
          <a:xfrm>
            <a:off x="2481992" y="1840817"/>
            <a:ext cx="1704450" cy="4059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100" b="1" dirty="0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</a:rPr>
              <a:t>Eliot</a:t>
            </a:r>
            <a:endParaRPr sz="1100" b="1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4" name="Google Shape;194;p29">
            <a:extLst>
              <a:ext uri="{FF2B5EF4-FFF2-40B4-BE49-F238E27FC236}">
                <a16:creationId xmlns:a16="http://schemas.microsoft.com/office/drawing/2014/main" id="{2A7B966A-64A0-78F8-01DE-0D94BC4C925E}"/>
              </a:ext>
            </a:extLst>
          </p:cNvPr>
          <p:cNvSpPr txBox="1"/>
          <p:nvPr/>
        </p:nvSpPr>
        <p:spPr>
          <a:xfrm>
            <a:off x="2366147" y="2356409"/>
            <a:ext cx="2810871" cy="2322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Flags APSR</a:t>
            </a:r>
          </a:p>
          <a:p>
            <a:pPr marL="171450" lvl="0" indent="-171450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Assembleur</a:t>
            </a:r>
            <a:endParaRPr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5" name="Google Shape;195;p29">
            <a:extLst>
              <a:ext uri="{FF2B5EF4-FFF2-40B4-BE49-F238E27FC236}">
                <a16:creationId xmlns:a16="http://schemas.microsoft.com/office/drawing/2014/main" id="{5524801C-A86A-9B06-75F3-EA8E9039B71C}"/>
              </a:ext>
            </a:extLst>
          </p:cNvPr>
          <p:cNvSpPr/>
          <p:nvPr/>
        </p:nvSpPr>
        <p:spPr>
          <a:xfrm>
            <a:off x="4745883" y="1830088"/>
            <a:ext cx="1704450" cy="4059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100" b="1" dirty="0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</a:rPr>
              <a:t>Samy</a:t>
            </a:r>
          </a:p>
        </p:txBody>
      </p:sp>
      <p:sp>
        <p:nvSpPr>
          <p:cNvPr id="196" name="Google Shape;196;p29">
            <a:extLst>
              <a:ext uri="{FF2B5EF4-FFF2-40B4-BE49-F238E27FC236}">
                <a16:creationId xmlns:a16="http://schemas.microsoft.com/office/drawing/2014/main" id="{87C511E9-BB0B-7719-58F2-77DA42683B10}"/>
              </a:ext>
            </a:extLst>
          </p:cNvPr>
          <p:cNvSpPr txBox="1"/>
          <p:nvPr/>
        </p:nvSpPr>
        <p:spPr>
          <a:xfrm>
            <a:off x="4745883" y="2360839"/>
            <a:ext cx="1982722" cy="1100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Data </a:t>
            </a:r>
            <a:r>
              <a:rPr lang="fr-FR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Processing</a:t>
            </a:r>
            <a:endParaRPr lang="fr-FR"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SP </a:t>
            </a:r>
            <a:r>
              <a:rPr lang="fr-FR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Address</a:t>
            </a:r>
            <a:endParaRPr lang="fr-FR"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endParaRPr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" name="Google Shape;195;p29">
            <a:extLst>
              <a:ext uri="{FF2B5EF4-FFF2-40B4-BE49-F238E27FC236}">
                <a16:creationId xmlns:a16="http://schemas.microsoft.com/office/drawing/2014/main" id="{79864CF6-27DD-AD1E-FFAA-669FD0BB8B3C}"/>
              </a:ext>
            </a:extLst>
          </p:cNvPr>
          <p:cNvSpPr/>
          <p:nvPr/>
        </p:nvSpPr>
        <p:spPr>
          <a:xfrm>
            <a:off x="6988196" y="1840817"/>
            <a:ext cx="1704450" cy="4059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100" b="1" dirty="0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</a:rPr>
              <a:t>Ezedine</a:t>
            </a:r>
          </a:p>
        </p:txBody>
      </p:sp>
      <p:sp>
        <p:nvSpPr>
          <p:cNvPr id="3" name="Google Shape;196;p29">
            <a:extLst>
              <a:ext uri="{FF2B5EF4-FFF2-40B4-BE49-F238E27FC236}">
                <a16:creationId xmlns:a16="http://schemas.microsoft.com/office/drawing/2014/main" id="{F715E374-0A3A-C804-2F00-1A90088ED24F}"/>
              </a:ext>
            </a:extLst>
          </p:cNvPr>
          <p:cNvSpPr txBox="1"/>
          <p:nvPr/>
        </p:nvSpPr>
        <p:spPr>
          <a:xfrm>
            <a:off x="6988196" y="2360838"/>
            <a:ext cx="1982722" cy="1100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Banc de Registres</a:t>
            </a:r>
          </a:p>
          <a:p>
            <a:pPr marL="171450" lvl="0" indent="-17145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dirty="0" err="1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Load</a:t>
            </a: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 Store</a:t>
            </a:r>
          </a:p>
          <a:p>
            <a:pPr marL="171450" lvl="0" indent="-17145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000" dirty="0">
                <a:solidFill>
                  <a:srgbClr val="191919"/>
                </a:solidFill>
                <a:latin typeface="Inter"/>
                <a:ea typeface="Inter"/>
                <a:cs typeface="Inter"/>
                <a:sym typeface="Inter"/>
              </a:rPr>
              <a:t>Décodeur</a:t>
            </a:r>
          </a:p>
          <a:p>
            <a:pPr marL="171450" lvl="0" indent="-17145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endParaRPr sz="1000" dirty="0">
              <a:solidFill>
                <a:srgbClr val="19191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6408663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5"/>
          <p:cNvSpPr txBox="1">
            <a:spLocks noGrp="1"/>
          </p:cNvSpPr>
          <p:nvPr>
            <p:ph type="title" idx="6"/>
          </p:nvPr>
        </p:nvSpPr>
        <p:spPr>
          <a:xfrm>
            <a:off x="341850" y="654800"/>
            <a:ext cx="82497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Fonctionnement global (de bout en bout)</a:t>
            </a:r>
            <a:endParaRPr lang="fr-FR" dirty="0"/>
          </a:p>
        </p:txBody>
      </p:sp>
      <p:sp>
        <p:nvSpPr>
          <p:cNvPr id="287" name="Google Shape;287;p35"/>
          <p:cNvSpPr txBox="1">
            <a:spLocks noGrp="1"/>
          </p:cNvSpPr>
          <p:nvPr>
            <p:ph type="subTitle" idx="2"/>
          </p:nvPr>
        </p:nvSpPr>
        <p:spPr>
          <a:xfrm>
            <a:off x="454936" y="1950313"/>
            <a:ext cx="5726442" cy="113152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Fichier assembleur </a:t>
            </a:r>
            <a:r>
              <a:rPr lang="fr-FR" dirty="0"/>
              <a:t>.s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Assembleur</a:t>
            </a:r>
            <a:r>
              <a:rPr lang="fr-FR" dirty="0"/>
              <a:t> (parseur + encodeur) → génère ROM </a:t>
            </a:r>
            <a:r>
              <a:rPr lang="fr-FR" dirty="0" err="1"/>
              <a:t>Logisim</a:t>
            </a:r>
            <a:r>
              <a:rPr lang="fr-FR" dirty="0"/>
              <a:t> .</a:t>
            </a:r>
            <a:r>
              <a:rPr lang="fr-FR" dirty="0" err="1"/>
              <a:t>hex</a:t>
            </a:r>
            <a:endParaRPr lang="fr-FR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Chargement ROM </a:t>
            </a:r>
            <a:r>
              <a:rPr lang="fr-FR" dirty="0"/>
              <a:t>dans </a:t>
            </a:r>
            <a:r>
              <a:rPr lang="fr-FR" dirty="0" err="1"/>
              <a:t>Logisim</a:t>
            </a:r>
            <a:endParaRPr lang="fr-FR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CPU exécute </a:t>
            </a:r>
            <a:r>
              <a:rPr lang="fr-FR" dirty="0"/>
              <a:t>→ lit/écrit </a:t>
            </a:r>
            <a:r>
              <a:rPr lang="fr-FR" b="1" dirty="0"/>
              <a:t>RAM</a:t>
            </a:r>
            <a:r>
              <a:rPr lang="fr-FR" dirty="0"/>
              <a:t> → met à jour registres + </a:t>
            </a:r>
            <a:r>
              <a:rPr lang="fr-FR" b="1" dirty="0"/>
              <a:t>flags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Résultat observable </a:t>
            </a:r>
            <a:r>
              <a:rPr lang="fr-FR" dirty="0"/>
              <a:t>: registres / mémoire / flags / PC</a:t>
            </a:r>
            <a:endParaRPr dirty="0"/>
          </a:p>
        </p:txBody>
      </p:sp>
      <p:sp>
        <p:nvSpPr>
          <p:cNvPr id="290" name="Google Shape;290;p35"/>
          <p:cNvSpPr txBox="1">
            <a:spLocks noGrp="1"/>
          </p:cNvSpPr>
          <p:nvPr>
            <p:ph type="title" idx="4"/>
          </p:nvPr>
        </p:nvSpPr>
        <p:spPr>
          <a:xfrm>
            <a:off x="341850" y="1486821"/>
            <a:ext cx="3796037" cy="41249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dirty="0"/>
              <a:t>Code → binaire → exécution</a:t>
            </a:r>
            <a:endParaRPr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4D7F7CC-16F7-0772-15C9-889B275682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3461681"/>
            <a:ext cx="5119652" cy="95483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129DCC1-7F42-8756-58D0-4F9C6AE99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5792" y="3132839"/>
            <a:ext cx="3168886" cy="8437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>
          <a:extLst>
            <a:ext uri="{FF2B5EF4-FFF2-40B4-BE49-F238E27FC236}">
              <a16:creationId xmlns:a16="http://schemas.microsoft.com/office/drawing/2014/main" id="{D359AE4E-E2A7-4588-F402-BED40C8E8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5">
            <a:extLst>
              <a:ext uri="{FF2B5EF4-FFF2-40B4-BE49-F238E27FC236}">
                <a16:creationId xmlns:a16="http://schemas.microsoft.com/office/drawing/2014/main" id="{2EC59BBC-A093-5953-1410-7A1EA2E35409}"/>
              </a:ext>
            </a:extLst>
          </p:cNvPr>
          <p:cNvSpPr txBox="1">
            <a:spLocks noGrp="1"/>
          </p:cNvSpPr>
          <p:nvPr>
            <p:ph type="title" idx="6"/>
          </p:nvPr>
        </p:nvSpPr>
        <p:spPr>
          <a:xfrm>
            <a:off x="341850" y="654800"/>
            <a:ext cx="82497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Fonctionnement global (de bout en bout)</a:t>
            </a:r>
            <a:endParaRPr lang="fr-FR" dirty="0"/>
          </a:p>
        </p:txBody>
      </p:sp>
      <p:sp>
        <p:nvSpPr>
          <p:cNvPr id="286" name="Google Shape;286;p35">
            <a:extLst>
              <a:ext uri="{FF2B5EF4-FFF2-40B4-BE49-F238E27FC236}">
                <a16:creationId xmlns:a16="http://schemas.microsoft.com/office/drawing/2014/main" id="{49C037BE-B2A4-126D-1944-A437AEFCF9F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35635" y="3657068"/>
            <a:ext cx="4236365" cy="10366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b="1" dirty="0"/>
              <a:t>PC</a:t>
            </a:r>
            <a:r>
              <a:rPr lang="fr-FR" dirty="0"/>
              <a:t> (adresse instruction) → </a:t>
            </a:r>
            <a:r>
              <a:rPr lang="fr-FR" b="1" dirty="0"/>
              <a:t>ROM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b="1" dirty="0"/>
              <a:t>IR</a:t>
            </a:r>
            <a:r>
              <a:rPr lang="fr-FR" dirty="0"/>
              <a:t> (instruction) → </a:t>
            </a:r>
            <a:r>
              <a:rPr lang="fr-FR" b="1" dirty="0"/>
              <a:t>Décodeur / Contrôleur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b="1" dirty="0"/>
              <a:t>Banc de registres </a:t>
            </a:r>
            <a:r>
              <a:rPr lang="fr-FR" dirty="0"/>
              <a:t>→ </a:t>
            </a:r>
            <a:r>
              <a:rPr lang="fr-FR" b="1" dirty="0"/>
              <a:t>ALU</a:t>
            </a:r>
            <a:r>
              <a:rPr lang="fr-FR" dirty="0"/>
              <a:t> → </a:t>
            </a:r>
            <a:r>
              <a:rPr lang="fr-FR" b="1" dirty="0" err="1"/>
              <a:t>Writeback</a:t>
            </a:r>
            <a:endParaRPr lang="fr-FR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b="1" dirty="0"/>
              <a:t>Flags NZCV </a:t>
            </a:r>
            <a:r>
              <a:rPr lang="fr-FR" dirty="0"/>
              <a:t>(maj selon instruction)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b="1" dirty="0"/>
              <a:t>Interface</a:t>
            </a:r>
            <a:r>
              <a:rPr lang="fr-FR" dirty="0"/>
              <a:t> </a:t>
            </a:r>
            <a:r>
              <a:rPr lang="fr-FR" b="1" dirty="0"/>
              <a:t>RAM</a:t>
            </a:r>
            <a:r>
              <a:rPr lang="fr-FR" dirty="0"/>
              <a:t> (pour LDR/STR)</a:t>
            </a:r>
            <a:endParaRPr dirty="0"/>
          </a:p>
        </p:txBody>
      </p:sp>
      <p:sp>
        <p:nvSpPr>
          <p:cNvPr id="289" name="Google Shape;289;p35">
            <a:extLst>
              <a:ext uri="{FF2B5EF4-FFF2-40B4-BE49-F238E27FC236}">
                <a16:creationId xmlns:a16="http://schemas.microsoft.com/office/drawing/2014/main" id="{9D0CFC3F-989F-CFFB-FCCA-7026B06FFB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5472" y="3219866"/>
            <a:ext cx="3792077" cy="28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dirty="0">
                <a:hlinkClick r:id="rId3" action="ppaction://hlinkfile"/>
              </a:rPr>
              <a:t>CPU</a:t>
            </a:r>
            <a:r>
              <a:rPr lang="fr-FR" dirty="0"/>
              <a:t> = </a:t>
            </a:r>
            <a:r>
              <a:rPr lang="fr-FR" dirty="0" err="1"/>
              <a:t>Datapath</a:t>
            </a:r>
            <a:r>
              <a:rPr lang="fr-FR" dirty="0"/>
              <a:t> + Contrôleur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AA4A214-27D4-F50B-513D-2A39F5D68E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768" y="1413163"/>
            <a:ext cx="5086428" cy="2140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2696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>
          <a:extLst>
            <a:ext uri="{FF2B5EF4-FFF2-40B4-BE49-F238E27FC236}">
              <a16:creationId xmlns:a16="http://schemas.microsoft.com/office/drawing/2014/main" id="{8BB4945D-981F-ABE4-AD4F-DBA9D5A04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5">
            <a:extLst>
              <a:ext uri="{FF2B5EF4-FFF2-40B4-BE49-F238E27FC236}">
                <a16:creationId xmlns:a16="http://schemas.microsoft.com/office/drawing/2014/main" id="{12E668FB-7C70-80AE-6973-C7C72BAA13C6}"/>
              </a:ext>
            </a:extLst>
          </p:cNvPr>
          <p:cNvSpPr txBox="1">
            <a:spLocks noGrp="1"/>
          </p:cNvSpPr>
          <p:nvPr>
            <p:ph type="title" idx="6"/>
          </p:nvPr>
        </p:nvSpPr>
        <p:spPr>
          <a:xfrm>
            <a:off x="341850" y="654800"/>
            <a:ext cx="82497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Fonctionnement global (de bout en bout)</a:t>
            </a:r>
            <a:endParaRPr lang="fr-FR" dirty="0"/>
          </a:p>
        </p:txBody>
      </p:sp>
      <p:sp>
        <p:nvSpPr>
          <p:cNvPr id="286" name="Google Shape;286;p35">
            <a:extLst>
              <a:ext uri="{FF2B5EF4-FFF2-40B4-BE49-F238E27FC236}">
                <a16:creationId xmlns:a16="http://schemas.microsoft.com/office/drawing/2014/main" id="{2E3F9ACF-5243-EB58-9D5E-965D7E5F133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38651" y="2429013"/>
            <a:ext cx="5883458" cy="11938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 err="1"/>
              <a:t>Fetch</a:t>
            </a:r>
            <a:r>
              <a:rPr lang="fr-FR" dirty="0"/>
              <a:t> : PC lit ROM, IR reçoit l’instruction</a:t>
            </a:r>
          </a:p>
          <a:p>
            <a:r>
              <a:rPr lang="fr-FR" b="1" dirty="0" err="1"/>
              <a:t>Decode</a:t>
            </a:r>
            <a:r>
              <a:rPr lang="fr-FR" dirty="0"/>
              <a:t> : contrôle des </a:t>
            </a:r>
            <a:r>
              <a:rPr lang="fr-FR" dirty="0" err="1"/>
              <a:t>mux</a:t>
            </a:r>
            <a:r>
              <a:rPr lang="fr-FR" dirty="0"/>
              <a:t> / </a:t>
            </a:r>
            <a:r>
              <a:rPr lang="fr-FR" dirty="0" err="1"/>
              <a:t>write</a:t>
            </a:r>
            <a:r>
              <a:rPr lang="fr-FR" dirty="0"/>
              <a:t> enable / type d’opération</a:t>
            </a:r>
          </a:p>
          <a:p>
            <a:r>
              <a:rPr lang="fr-FR" b="1" dirty="0" err="1"/>
              <a:t>Execute</a:t>
            </a:r>
            <a:r>
              <a:rPr lang="fr-FR" dirty="0"/>
              <a:t> : ALU calcule résultat + flags</a:t>
            </a:r>
          </a:p>
          <a:p>
            <a:r>
              <a:rPr lang="fr-FR" b="1" dirty="0"/>
              <a:t>Memory</a:t>
            </a:r>
            <a:r>
              <a:rPr lang="fr-FR" dirty="0"/>
              <a:t> (si LDR/STR) : accès RAM</a:t>
            </a:r>
          </a:p>
          <a:p>
            <a:r>
              <a:rPr lang="fr-FR" b="1" dirty="0" err="1"/>
              <a:t>Writeback</a:t>
            </a:r>
            <a:r>
              <a:rPr lang="fr-FR" dirty="0"/>
              <a:t> : écrit registre / PC / SP</a:t>
            </a:r>
          </a:p>
        </p:txBody>
      </p:sp>
      <p:sp>
        <p:nvSpPr>
          <p:cNvPr id="289" name="Google Shape;289;p35">
            <a:extLst>
              <a:ext uri="{FF2B5EF4-FFF2-40B4-BE49-F238E27FC236}">
                <a16:creationId xmlns:a16="http://schemas.microsoft.com/office/drawing/2014/main" id="{FC29C00F-2CBE-7999-7A3F-27A475896D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69610" y="1919386"/>
            <a:ext cx="3792077" cy="28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dirty="0"/>
              <a:t>Cycle (simplifié)</a:t>
            </a:r>
            <a:endParaRPr dirty="0"/>
          </a:p>
        </p:txBody>
      </p:sp>
      <p:sp>
        <p:nvSpPr>
          <p:cNvPr id="3" name="Google Shape;286;p35">
            <a:extLst>
              <a:ext uri="{FF2B5EF4-FFF2-40B4-BE49-F238E27FC236}">
                <a16:creationId xmlns:a16="http://schemas.microsoft.com/office/drawing/2014/main" id="{8BCCD014-0C8B-B8BF-F111-0B0A87DFF085}"/>
              </a:ext>
            </a:extLst>
          </p:cNvPr>
          <p:cNvSpPr txBox="1">
            <a:spLocks/>
          </p:cNvSpPr>
          <p:nvPr/>
        </p:nvSpPr>
        <p:spPr>
          <a:xfrm>
            <a:off x="0" y="4527687"/>
            <a:ext cx="4193309" cy="318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2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r>
              <a:rPr lang="fr-FR" sz="900" b="1" dirty="0"/>
              <a:t>LDR/STR = 2 cycles</a:t>
            </a:r>
            <a:r>
              <a:rPr lang="fr-FR" sz="900" dirty="0"/>
              <a:t>, le reste </a:t>
            </a:r>
            <a:r>
              <a:rPr lang="fr-FR" sz="900" b="1" dirty="0"/>
              <a:t>= 1 cycle</a:t>
            </a:r>
            <a:endParaRPr lang="fr-FR" sz="9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53A8EAE-949A-265A-54CC-CA1CF72EE12B}"/>
              </a:ext>
            </a:extLst>
          </p:cNvPr>
          <p:cNvSpPr/>
          <p:nvPr/>
        </p:nvSpPr>
        <p:spPr>
          <a:xfrm>
            <a:off x="6123709" y="1257500"/>
            <a:ext cx="2660073" cy="5688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1) Lire instruction</a:t>
            </a:r>
          </a:p>
          <a:p>
            <a:pPr algn="ctr"/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Lire la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prochaine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ligne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du programme</a:t>
            </a:r>
            <a:endParaRPr lang="fr-FR" sz="800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94A07C8-B4E2-60A5-FCA5-6ACED70E5A19}"/>
              </a:ext>
            </a:extLst>
          </p:cNvPr>
          <p:cNvSpPr/>
          <p:nvPr/>
        </p:nvSpPr>
        <p:spPr>
          <a:xfrm>
            <a:off x="6123709" y="1893810"/>
            <a:ext cx="2660073" cy="66817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2) </a:t>
            </a:r>
            <a:r>
              <a:rPr lang="en-GB" sz="1300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Comprendre</a:t>
            </a:r>
            <a:r>
              <a:rPr lang="en-GB" sz="13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+ </a:t>
            </a:r>
            <a:r>
              <a:rPr lang="en-GB" sz="1300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préparer</a:t>
            </a:r>
            <a:endParaRPr lang="en-GB" sz="1300" b="1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  <a:p>
            <a:pPr algn="ctr"/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Choisir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l’action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, les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registres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et les chemins internes</a:t>
            </a:r>
            <a:endParaRPr lang="fr-FR" sz="1000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56CF90A-642F-503A-3214-7FB56E4A380B}"/>
              </a:ext>
            </a:extLst>
          </p:cNvPr>
          <p:cNvSpPr/>
          <p:nvPr/>
        </p:nvSpPr>
        <p:spPr>
          <a:xfrm>
            <a:off x="6123709" y="2660554"/>
            <a:ext cx="2660073" cy="6371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3) </a:t>
            </a:r>
            <a:r>
              <a:rPr lang="en-GB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Calculer</a:t>
            </a:r>
            <a:endParaRPr lang="en-GB" b="1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  <a:p>
            <a:pPr algn="ctr"/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Faire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l’operation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+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mettre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a jour les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indicateurs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(0,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négatif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, etc)</a:t>
            </a:r>
            <a:endParaRPr lang="fr-FR" sz="800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F1DBB0D-176A-4BB4-D116-726163C126C4}"/>
              </a:ext>
            </a:extLst>
          </p:cNvPr>
          <p:cNvSpPr/>
          <p:nvPr/>
        </p:nvSpPr>
        <p:spPr>
          <a:xfrm>
            <a:off x="6123709" y="3396228"/>
            <a:ext cx="2660073" cy="6363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4) </a:t>
            </a:r>
            <a:r>
              <a:rPr lang="en-GB" sz="1200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Mémoire</a:t>
            </a:r>
            <a:r>
              <a:rPr lang="en-GB" sz="12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(</a:t>
            </a:r>
            <a:r>
              <a:rPr lang="en-GB" sz="1200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si</a:t>
            </a:r>
            <a:r>
              <a:rPr lang="en-GB" sz="12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necessaire)</a:t>
            </a:r>
          </a:p>
          <a:p>
            <a:pPr algn="ctr"/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Lire/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écrire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la 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mémoire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des données (</a:t>
            </a:r>
            <a:r>
              <a:rPr lang="en-GB" sz="8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seulement</a:t>
            </a:r>
            <a:r>
              <a:rPr lang="en-GB" sz="8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pour charger/stocker</a:t>
            </a:r>
            <a:r>
              <a:rPr lang="en-GB" sz="9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)</a:t>
            </a:r>
            <a:endParaRPr lang="fr-FR" sz="900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3621D16-0767-6AD7-D670-A6ABC6AB8DFE}"/>
              </a:ext>
            </a:extLst>
          </p:cNvPr>
          <p:cNvSpPr/>
          <p:nvPr/>
        </p:nvSpPr>
        <p:spPr>
          <a:xfrm>
            <a:off x="6123709" y="4131902"/>
            <a:ext cx="2660073" cy="6355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5) Enregister le </a:t>
            </a:r>
            <a:r>
              <a:rPr lang="en-GB" sz="1200" b="1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résultat</a:t>
            </a:r>
            <a:r>
              <a:rPr lang="en-GB" sz="1200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</a:t>
            </a:r>
          </a:p>
          <a:p>
            <a:pPr algn="ctr"/>
            <a:r>
              <a:rPr lang="en-GB" sz="7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Ecrire</a:t>
            </a:r>
            <a:r>
              <a:rPr lang="en-GB" sz="7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dans un </a:t>
            </a:r>
            <a:r>
              <a:rPr lang="en-GB" sz="7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registre</a:t>
            </a:r>
            <a:r>
              <a:rPr lang="en-GB" sz="7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</a:t>
            </a:r>
            <a:r>
              <a:rPr lang="en-GB" sz="7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ou</a:t>
            </a:r>
            <a:r>
              <a:rPr lang="en-GB" sz="7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changer la suite du programme </a:t>
            </a:r>
            <a:r>
              <a:rPr lang="en-GB" sz="7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ou</a:t>
            </a:r>
            <a:r>
              <a:rPr lang="en-GB" sz="7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</a:t>
            </a:r>
            <a:r>
              <a:rPr lang="en-GB" sz="700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mettre</a:t>
            </a:r>
            <a:r>
              <a:rPr lang="en-GB" sz="700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à jour la pile</a:t>
            </a:r>
            <a:endParaRPr lang="fr-FR" sz="700" dirty="0">
              <a:solidFill>
                <a:schemeClr val="tx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1A1A809-2C4C-DBA9-8A49-59BE46B38A14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7453746" y="1826313"/>
            <a:ext cx="0" cy="6749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B446714-15EC-F590-A9EE-362747F35080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7453746" y="2561987"/>
            <a:ext cx="0" cy="985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261E29-4DC3-6E8C-792F-69F59C47449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7453746" y="3297662"/>
            <a:ext cx="0" cy="985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B9CC5F0-A852-D9A5-AC90-DA9F8D5CB4FA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7453746" y="4032538"/>
            <a:ext cx="0" cy="99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58812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>
          <a:extLst>
            <a:ext uri="{FF2B5EF4-FFF2-40B4-BE49-F238E27FC236}">
              <a16:creationId xmlns:a16="http://schemas.microsoft.com/office/drawing/2014/main" id="{EF0C759D-D405-5DB0-1B23-4E19D11D4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5">
            <a:extLst>
              <a:ext uri="{FF2B5EF4-FFF2-40B4-BE49-F238E27FC236}">
                <a16:creationId xmlns:a16="http://schemas.microsoft.com/office/drawing/2014/main" id="{170E08E6-33DF-1372-6701-E5C0ACD72A26}"/>
              </a:ext>
            </a:extLst>
          </p:cNvPr>
          <p:cNvSpPr txBox="1">
            <a:spLocks noGrp="1"/>
          </p:cNvSpPr>
          <p:nvPr>
            <p:ph type="title" idx="6"/>
          </p:nvPr>
        </p:nvSpPr>
        <p:spPr>
          <a:xfrm>
            <a:off x="341850" y="654800"/>
            <a:ext cx="82497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b="1" dirty="0"/>
              <a:t>Tableau jeu d’instructions</a:t>
            </a:r>
            <a:endParaRPr lang="fr-FR" dirty="0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0DD89F3E-0DEB-8B58-E35D-0597186C4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72C78F2-D108-75B5-8D62-643A891F14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527" t="8670" r="11349" b="9052"/>
          <a:stretch>
            <a:fillRect/>
          </a:stretch>
        </p:blipFill>
        <p:spPr>
          <a:xfrm>
            <a:off x="2521069" y="1257500"/>
            <a:ext cx="4101861" cy="3382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9301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4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573700" cy="6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Architecture CPU (</a:t>
            </a:r>
            <a:r>
              <a:rPr lang="fr-FR" dirty="0" err="1"/>
              <a:t>datapath</a:t>
            </a:r>
            <a:r>
              <a:rPr lang="fr-FR" dirty="0"/>
              <a:t>)</a:t>
            </a:r>
            <a:endParaRPr dirty="0"/>
          </a:p>
        </p:txBody>
      </p:sp>
      <p:sp>
        <p:nvSpPr>
          <p:cNvPr id="277" name="Google Shape;277;p34"/>
          <p:cNvSpPr txBox="1">
            <a:spLocks noGrp="1"/>
          </p:cNvSpPr>
          <p:nvPr>
            <p:ph type="subTitle" idx="3"/>
          </p:nvPr>
        </p:nvSpPr>
        <p:spPr>
          <a:xfrm>
            <a:off x="233384" y="3679861"/>
            <a:ext cx="7552870" cy="31858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Compteur d’instructions </a:t>
            </a:r>
            <a:r>
              <a:rPr lang="fr-FR" dirty="0"/>
              <a:t>: fournit l’adresse de la prochaine instruction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Mémoire programme (ROM) </a:t>
            </a:r>
            <a:r>
              <a:rPr lang="fr-FR" dirty="0"/>
              <a:t>: renvoie l’instruction courante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Décodage / contrôle </a:t>
            </a:r>
            <a:r>
              <a:rPr lang="fr-FR" dirty="0"/>
              <a:t>: choisit les chemins et active les écritures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Banc de registres + ALU </a:t>
            </a:r>
            <a:r>
              <a:rPr lang="fr-FR" dirty="0"/>
              <a:t>: calcule le résultat et met à jour les indicateurs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b="1" dirty="0"/>
              <a:t>Interface mémoire (RAM) </a:t>
            </a:r>
            <a:r>
              <a:rPr lang="fr-FR" dirty="0"/>
              <a:t>: utilisée uniquement pour charger / stocker</a:t>
            </a:r>
            <a:endParaRPr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4A8A800-ABDE-C411-D061-632623FAED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9299407"/>
              </p:ext>
            </p:extLst>
          </p:nvPr>
        </p:nvGraphicFramePr>
        <p:xfrm>
          <a:off x="5357781" y="881072"/>
          <a:ext cx="3398187" cy="1587458"/>
        </p:xfrm>
        <a:graphic>
          <a:graphicData uri="http://schemas.openxmlformats.org/drawingml/2006/table">
            <a:tbl>
              <a:tblPr/>
              <a:tblGrid>
                <a:gridCol w="1132729">
                  <a:extLst>
                    <a:ext uri="{9D8B030D-6E8A-4147-A177-3AD203B41FA5}">
                      <a16:colId xmlns:a16="http://schemas.microsoft.com/office/drawing/2014/main" val="2007413439"/>
                    </a:ext>
                  </a:extLst>
                </a:gridCol>
                <a:gridCol w="1132729">
                  <a:extLst>
                    <a:ext uri="{9D8B030D-6E8A-4147-A177-3AD203B41FA5}">
                      <a16:colId xmlns:a16="http://schemas.microsoft.com/office/drawing/2014/main" val="815537980"/>
                    </a:ext>
                  </a:extLst>
                </a:gridCol>
                <a:gridCol w="1132729">
                  <a:extLst>
                    <a:ext uri="{9D8B030D-6E8A-4147-A177-3AD203B41FA5}">
                      <a16:colId xmlns:a16="http://schemas.microsoft.com/office/drawing/2014/main" val="4195817921"/>
                    </a:ext>
                  </a:extLst>
                </a:gridCol>
              </a:tblGrid>
              <a:tr h="2296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Interface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Entrées / Sorties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À quoi ça sert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6712884"/>
                  </a:ext>
                </a:extLst>
              </a:tr>
              <a:tr h="3903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/>
                        <a:t>ROM</a:t>
                      </a:r>
                      <a:endParaRPr lang="fr-FR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adresse → instruction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lire le programme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0833970"/>
                  </a:ext>
                </a:extLst>
              </a:tr>
              <a:tr h="5511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 dirty="0"/>
                        <a:t>RAM</a:t>
                      </a:r>
                      <a:endParaRPr lang="fr-FR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adresse + données + write enable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lire/écrire données (load/store)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8804629"/>
                  </a:ext>
                </a:extLst>
              </a:tr>
              <a:tr h="3903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b="1"/>
                        <a:t>Clock/Reset</a:t>
                      </a:r>
                      <a:endParaRPr lang="fr-FR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/>
                        <a:t>horloge / remise à zéro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000" dirty="0"/>
                        <a:t>cadence + init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62253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EF157C99-48DE-C0D1-14FA-53E15A80BC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666" y="2565272"/>
            <a:ext cx="2589330" cy="9962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6DC4A8-BDC7-601F-1C4D-298AB15F56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5904" y="1770861"/>
            <a:ext cx="2011654" cy="6760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F9828A-72E3-6ACF-48CE-08F4882E87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433" y="1295442"/>
            <a:ext cx="1726624" cy="234617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0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453400" cy="6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800" dirty="0"/>
              <a:t>ISA supportée (</a:t>
            </a:r>
            <a:r>
              <a:rPr lang="fr-FR" sz="2800" dirty="0" err="1"/>
              <a:t>Thumb</a:t>
            </a:r>
            <a:r>
              <a:rPr lang="fr-FR" sz="2800" dirty="0"/>
              <a:t> 16 bits) - ce que notre CPU exécute</a:t>
            </a:r>
            <a:endParaRPr sz="2800" b="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F446A8F2-55F7-8B2C-44C6-451A7F4B4D51}"/>
              </a:ext>
            </a:extLst>
          </p:cNvPr>
          <p:cNvSpPr/>
          <p:nvPr/>
        </p:nvSpPr>
        <p:spPr>
          <a:xfrm>
            <a:off x="942109" y="1662545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Déplacements &amp; </a:t>
            </a:r>
            <a:r>
              <a:rPr lang="fr-FR" dirty="0" err="1"/>
              <a:t>arithmétiqueMOV</a:t>
            </a:r>
            <a:r>
              <a:rPr lang="fr-FR" dirty="0"/>
              <a:t> (</a:t>
            </a:r>
            <a:r>
              <a:rPr lang="fr-FR" dirty="0" err="1"/>
              <a:t>imm</a:t>
            </a:r>
            <a:r>
              <a:rPr lang="fr-FR" dirty="0"/>
              <a:t>)ADD / </a:t>
            </a:r>
            <a:r>
              <a:rPr lang="fr-FR" dirty="0" err="1"/>
              <a:t>SUBShift</a:t>
            </a:r>
            <a:r>
              <a:rPr lang="fr-FR" dirty="0"/>
              <a:t> (LSL/LSR/ASR)CMP (selon </a:t>
            </a:r>
            <a:r>
              <a:rPr lang="fr-FR" dirty="0" err="1"/>
              <a:t>impl</a:t>
            </a:r>
            <a:r>
              <a:rPr lang="fr-FR" dirty="0"/>
              <a:t>.)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6E6131F-E64D-BC7B-EA24-54C3E10E7C4A}"/>
              </a:ext>
            </a:extLst>
          </p:cNvPr>
          <p:cNvSpPr/>
          <p:nvPr/>
        </p:nvSpPr>
        <p:spPr>
          <a:xfrm>
            <a:off x="942108" y="3209634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Mémoire (pile)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LDR (SP + 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imm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STR (SP + 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imm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Adresse = SP + offset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2 cycles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7EE4F51-5B24-6265-65BE-408BA1B5616A}"/>
              </a:ext>
            </a:extLst>
          </p:cNvPr>
          <p:cNvSpPr/>
          <p:nvPr/>
        </p:nvSpPr>
        <p:spPr>
          <a:xfrm>
            <a:off x="4632036" y="3209635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D0D3980-558D-741C-8F25-EBD5099F724A}"/>
              </a:ext>
            </a:extLst>
          </p:cNvPr>
          <p:cNvSpPr/>
          <p:nvPr/>
        </p:nvSpPr>
        <p:spPr>
          <a:xfrm>
            <a:off x="4632035" y="1662544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F09D3737-9D61-CF51-F440-9F167C64F227}"/>
              </a:ext>
            </a:extLst>
          </p:cNvPr>
          <p:cNvSpPr/>
          <p:nvPr/>
        </p:nvSpPr>
        <p:spPr>
          <a:xfrm>
            <a:off x="942108" y="1662544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Déplacements &amp; arithmétique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MOV (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imm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ADD / SUB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Shift (LSL/LSR/ASR)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CMP (selon 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impl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.)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34F1D4EF-100A-4537-4D7A-52E2C8EF490D}"/>
              </a:ext>
            </a:extLst>
          </p:cNvPr>
          <p:cNvSpPr/>
          <p:nvPr/>
        </p:nvSpPr>
        <p:spPr>
          <a:xfrm>
            <a:off x="4632035" y="3209634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Branchements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 conditionnel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offset signé (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imm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)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dépend des indicateurs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 pas de BL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17AB7ACF-3EC4-CEB2-C518-EC8B67CAE516}"/>
              </a:ext>
            </a:extLst>
          </p:cNvPr>
          <p:cNvSpPr/>
          <p:nvPr/>
        </p:nvSpPr>
        <p:spPr>
          <a:xfrm>
            <a:off x="4632034" y="1662543"/>
            <a:ext cx="3537527" cy="1394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Traitement logique/ALU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AND / ORR / EOR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ADC / SBC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TST / CMN</a:t>
            </a:r>
          </a:p>
          <a:p>
            <a:pPr algn="ctr"/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MUL (si </a:t>
            </a:r>
            <a:r>
              <a:rPr lang="fr-FR" dirty="0" err="1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impl</a:t>
            </a:r>
            <a:r>
              <a:rPr lang="fr-FR" dirty="0">
                <a:solidFill>
                  <a:schemeClr val="tx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.)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1"/>
          <p:cNvSpPr txBox="1">
            <a:spLocks noGrp="1"/>
          </p:cNvSpPr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>
                <a:hlinkClick r:id="rId3" action="ppaction://hlinkfile"/>
              </a:rPr>
              <a:t>Assembleur / Parseur</a:t>
            </a:r>
            <a:endParaRPr dirty="0"/>
          </a:p>
        </p:txBody>
      </p:sp>
      <p:sp>
        <p:nvSpPr>
          <p:cNvPr id="251" name="Google Shape;251;p31"/>
          <p:cNvSpPr txBox="1">
            <a:spLocks noGrp="1"/>
          </p:cNvSpPr>
          <p:nvPr>
            <p:ph type="body" idx="1"/>
          </p:nvPr>
        </p:nvSpPr>
        <p:spPr>
          <a:xfrm>
            <a:off x="3681375" y="1423550"/>
            <a:ext cx="4940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Clr>
                <a:srgbClr val="273D40"/>
              </a:buClr>
              <a:buSzPts val="600"/>
              <a:buNone/>
            </a:pPr>
            <a:r>
              <a:rPr lang="fr-FR" dirty="0"/>
              <a:t>Transformer un programme assembleur en fichier ROM compatible </a:t>
            </a:r>
            <a:r>
              <a:rPr lang="fr-FR" dirty="0" err="1"/>
              <a:t>Logisim</a:t>
            </a:r>
            <a:r>
              <a:rPr lang="fr-FR" dirty="0"/>
              <a:t> pour exécuter sur notre CPU.</a:t>
            </a:r>
          </a:p>
          <a:p>
            <a:pPr marL="0" lvl="0" indent="0">
              <a:buClr>
                <a:srgbClr val="273D40"/>
              </a:buClr>
              <a:buSzPts val="600"/>
              <a:buNone/>
            </a:pPr>
            <a:endParaRPr lang="fr-FR" dirty="0"/>
          </a:p>
          <a:p>
            <a:r>
              <a:rPr lang="fr-FR" dirty="0"/>
              <a:t>Entrée : fichier .s (code assembleur)</a:t>
            </a:r>
          </a:p>
          <a:p>
            <a:r>
              <a:rPr lang="fr-FR" dirty="0"/>
              <a:t>Analyse : lecture ligne par ligne, découpage en </a:t>
            </a:r>
            <a:r>
              <a:rPr lang="fr-FR" dirty="0" err="1"/>
              <a:t>tokens</a:t>
            </a:r>
            <a:r>
              <a:rPr lang="fr-FR" dirty="0"/>
              <a:t>, gestion labels</a:t>
            </a:r>
          </a:p>
          <a:p>
            <a:r>
              <a:rPr lang="fr-FR" dirty="0"/>
              <a:t>Encodage : conversion en instructions 16 bits (et gestion des erreurs)</a:t>
            </a:r>
          </a:p>
          <a:p>
            <a:r>
              <a:rPr lang="fr-FR" dirty="0"/>
              <a:t>Sortie : fichier .</a:t>
            </a:r>
            <a:r>
              <a:rPr lang="fr-FR" dirty="0" err="1"/>
              <a:t>hex</a:t>
            </a:r>
            <a:r>
              <a:rPr lang="fr-FR" dirty="0"/>
              <a:t> </a:t>
            </a:r>
            <a:r>
              <a:rPr lang="fr-FR" dirty="0" err="1"/>
              <a:t>Logisim</a:t>
            </a:r>
            <a:endParaRPr lang="fr-FR" dirty="0"/>
          </a:p>
          <a:p>
            <a:pPr marL="0" lvl="0" indent="0">
              <a:buClr>
                <a:srgbClr val="273D40"/>
              </a:buClr>
              <a:buSzPts val="600"/>
              <a:buNone/>
            </a:pPr>
            <a:endParaRPr dirty="0"/>
          </a:p>
        </p:txBody>
      </p:sp>
      <p:grpSp>
        <p:nvGrpSpPr>
          <p:cNvPr id="252" name="Google Shape;252;p31"/>
          <p:cNvGrpSpPr/>
          <p:nvPr/>
        </p:nvGrpSpPr>
        <p:grpSpPr>
          <a:xfrm>
            <a:off x="511225" y="947025"/>
            <a:ext cx="2971350" cy="265500"/>
            <a:chOff x="511225" y="947025"/>
            <a:chExt cx="2971350" cy="265500"/>
          </a:xfrm>
        </p:grpSpPr>
        <p:pic>
          <p:nvPicPr>
            <p:cNvPr id="253" name="Google Shape;253;p31" title="Sin título-2.png"/>
            <p:cNvPicPr preferRelativeResize="0"/>
            <p:nvPr/>
          </p:nvPicPr>
          <p:blipFill rotWithShape="1">
            <a:blip r:embed="rId4">
              <a:alphaModFix/>
            </a:blip>
            <a:srcRect l="60127"/>
            <a:stretch/>
          </p:blipFill>
          <p:spPr>
            <a:xfrm>
              <a:off x="51277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4" name="Google Shape;254;p31" title="Sin título-2.png"/>
            <p:cNvPicPr preferRelativeResize="0"/>
            <p:nvPr/>
          </p:nvPicPr>
          <p:blipFill rotWithShape="1">
            <a:blip r:embed="rId4">
              <a:alphaModFix/>
            </a:blip>
            <a:srcRect l="60127"/>
            <a:stretch/>
          </p:blipFill>
          <p:spPr>
            <a:xfrm>
              <a:off x="51122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6B570875-A4C8-1D88-0204-82A4C3AC787D}"/>
              </a:ext>
            </a:extLst>
          </p:cNvPr>
          <p:cNvPicPr>
            <a:picLocks noGrp="1" noChangeAspect="1"/>
          </p:cNvPicPr>
          <p:nvPr>
            <p:ph type="pic" idx="2"/>
          </p:nvPr>
        </p:nvPicPr>
        <p:blipFill>
          <a:blip r:embed="rId5"/>
          <a:srcRect l="187" r="187"/>
          <a:stretch/>
        </p:blipFill>
        <p:spPr>
          <a:prstGeom prst="rect">
            <a:avLst/>
          </a:prstGeom>
          <a:noFill/>
          <a:ln w="9525" cap="flat" cmpd="sng">
            <a:solidFill>
              <a:srgbClr val="70707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3"/>
          <p:cNvSpPr txBox="1">
            <a:spLocks noGrp="1"/>
          </p:cNvSpPr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ALU + Indicateurs (NZCV)</a:t>
            </a:r>
            <a:endParaRPr dirty="0"/>
          </a:p>
        </p:txBody>
      </p:sp>
      <p:sp>
        <p:nvSpPr>
          <p:cNvPr id="271" name="Google Shape;271;p33"/>
          <p:cNvSpPr txBox="1">
            <a:spLocks noGrp="1"/>
          </p:cNvSpPr>
          <p:nvPr>
            <p:ph type="subTitle" idx="1"/>
          </p:nvPr>
        </p:nvSpPr>
        <p:spPr>
          <a:xfrm>
            <a:off x="1338122" y="1576805"/>
            <a:ext cx="6688278" cy="60297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fr-FR" dirty="0"/>
              <a:t>L’ALU fait les calculs (arithmétique, logique, décalages) et met à jour les indicateurs.</a:t>
            </a:r>
          </a:p>
          <a:p>
            <a:pPr marL="0" lvl="0" indent="0"/>
            <a:endParaRPr lang="fr-FR" dirty="0"/>
          </a:p>
          <a:p>
            <a:pPr marL="0" lvl="0" indent="0"/>
            <a:endParaRPr dirty="0"/>
          </a:p>
        </p:txBody>
      </p:sp>
      <p:sp>
        <p:nvSpPr>
          <p:cNvPr id="2" name="Google Shape;271;p33">
            <a:extLst>
              <a:ext uri="{FF2B5EF4-FFF2-40B4-BE49-F238E27FC236}">
                <a16:creationId xmlns:a16="http://schemas.microsoft.com/office/drawing/2014/main" id="{B5EFA36F-1575-04DF-E09D-2D35FDA5DA60}"/>
              </a:ext>
            </a:extLst>
          </p:cNvPr>
          <p:cNvSpPr txBox="1">
            <a:spLocks/>
          </p:cNvSpPr>
          <p:nvPr/>
        </p:nvSpPr>
        <p:spPr>
          <a:xfrm>
            <a:off x="455474" y="2642203"/>
            <a:ext cx="4226787" cy="1218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r>
              <a:rPr lang="fr-FR" sz="1800" b="1" dirty="0"/>
              <a:t>Entrées : </a:t>
            </a:r>
          </a:p>
          <a:p>
            <a:r>
              <a:rPr lang="fr-FR" b="1" dirty="0"/>
              <a:t>A (32 bits)</a:t>
            </a:r>
            <a:r>
              <a:rPr lang="fr-FR" dirty="0"/>
              <a:t> : valeur venant d’un registre</a:t>
            </a:r>
          </a:p>
          <a:p>
            <a:r>
              <a:rPr lang="fr-FR" b="1" dirty="0"/>
              <a:t>B (32 bits)</a:t>
            </a:r>
            <a:r>
              <a:rPr lang="fr-FR" dirty="0"/>
              <a:t> : valeur venant d’un registre / immédiat</a:t>
            </a:r>
          </a:p>
          <a:p>
            <a:r>
              <a:rPr lang="fr-FR" b="1" dirty="0"/>
              <a:t>Paramètres</a:t>
            </a:r>
            <a:r>
              <a:rPr lang="fr-FR" dirty="0"/>
              <a:t> : type d’opération + décalage + retenue (si besoin)</a:t>
            </a:r>
          </a:p>
          <a:p>
            <a:pPr marL="0" indent="0"/>
            <a:endParaRPr lang="fr-FR" dirty="0"/>
          </a:p>
          <a:p>
            <a:pPr marL="0" indent="0"/>
            <a:endParaRPr lang="fr-FR" dirty="0"/>
          </a:p>
        </p:txBody>
      </p:sp>
      <p:sp>
        <p:nvSpPr>
          <p:cNvPr id="3" name="Google Shape;271;p33">
            <a:extLst>
              <a:ext uri="{FF2B5EF4-FFF2-40B4-BE49-F238E27FC236}">
                <a16:creationId xmlns:a16="http://schemas.microsoft.com/office/drawing/2014/main" id="{D32F9B50-898D-C48C-F30D-98CF679DFC2C}"/>
              </a:ext>
            </a:extLst>
          </p:cNvPr>
          <p:cNvSpPr txBox="1">
            <a:spLocks/>
          </p:cNvSpPr>
          <p:nvPr/>
        </p:nvSpPr>
        <p:spPr>
          <a:xfrm>
            <a:off x="5111631" y="2743501"/>
            <a:ext cx="6591296" cy="1218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r>
              <a:rPr lang="fr-FR" sz="1800" b="1" dirty="0"/>
              <a:t>Sorties : </a:t>
            </a:r>
          </a:p>
          <a:p>
            <a:r>
              <a:rPr lang="fr-FR" b="1" dirty="0"/>
              <a:t>Résultat (32 bits)</a:t>
            </a:r>
            <a:endParaRPr lang="fr-FR" dirty="0"/>
          </a:p>
          <a:p>
            <a:r>
              <a:rPr lang="fr-FR" b="1" dirty="0"/>
              <a:t>Indicateurs NZCV</a:t>
            </a:r>
            <a:endParaRPr lang="fr-FR" dirty="0"/>
          </a:p>
          <a:p>
            <a:pPr lvl="1"/>
            <a:r>
              <a:rPr lang="fr-FR" b="1" dirty="0"/>
              <a:t>N</a:t>
            </a:r>
            <a:r>
              <a:rPr lang="fr-FR" dirty="0"/>
              <a:t> : résultat négatif</a:t>
            </a:r>
          </a:p>
          <a:p>
            <a:pPr lvl="1"/>
            <a:r>
              <a:rPr lang="fr-FR" b="1" dirty="0"/>
              <a:t>Z</a:t>
            </a:r>
            <a:r>
              <a:rPr lang="fr-FR" dirty="0"/>
              <a:t> : résultat = 0</a:t>
            </a:r>
          </a:p>
          <a:p>
            <a:pPr lvl="1"/>
            <a:r>
              <a:rPr lang="fr-FR" b="1" dirty="0"/>
              <a:t>C</a:t>
            </a:r>
            <a:r>
              <a:rPr lang="fr-FR" dirty="0"/>
              <a:t> : retenue (carry)</a:t>
            </a:r>
          </a:p>
          <a:p>
            <a:pPr lvl="1"/>
            <a:r>
              <a:rPr lang="fr-FR" b="1" dirty="0"/>
              <a:t>V</a:t>
            </a:r>
            <a:r>
              <a:rPr lang="fr-FR" dirty="0"/>
              <a:t> : dépassement (</a:t>
            </a:r>
            <a:r>
              <a:rPr lang="fr-FR" dirty="0" err="1"/>
              <a:t>overflow</a:t>
            </a:r>
            <a:r>
              <a:rPr lang="fr-FR" dirty="0"/>
              <a:t>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>
          <a:extLst>
            <a:ext uri="{FF2B5EF4-FFF2-40B4-BE49-F238E27FC236}">
              <a16:creationId xmlns:a16="http://schemas.microsoft.com/office/drawing/2014/main" id="{6E153DFB-7C9B-6399-C5B8-FFC8DF38B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3">
            <a:extLst>
              <a:ext uri="{FF2B5EF4-FFF2-40B4-BE49-F238E27FC236}">
                <a16:creationId xmlns:a16="http://schemas.microsoft.com/office/drawing/2014/main" id="{B8D29AF6-4B8C-EC0E-EBA1-6CC119CC12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ALU + Indicateurs (NZCV)</a:t>
            </a:r>
            <a:endParaRPr dirty="0"/>
          </a:p>
        </p:txBody>
      </p:sp>
      <p:sp>
        <p:nvSpPr>
          <p:cNvPr id="271" name="Google Shape;271;p33">
            <a:extLst>
              <a:ext uri="{FF2B5EF4-FFF2-40B4-BE49-F238E27FC236}">
                <a16:creationId xmlns:a16="http://schemas.microsoft.com/office/drawing/2014/main" id="{E27ADB4C-38BF-9E7A-D013-D3EAF7D7297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338122" y="1576805"/>
            <a:ext cx="6688278" cy="60297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fr-FR" dirty="0"/>
              <a:t>L’ALU fait les calculs (arithmétique, logique, décalages) et met à jour les indicateurs.</a:t>
            </a:r>
          </a:p>
          <a:p>
            <a:pPr marL="0" lvl="0" indent="0"/>
            <a:endParaRPr lang="fr-FR" dirty="0"/>
          </a:p>
          <a:p>
            <a:pPr marL="0" lvl="0" indent="0"/>
            <a:endParaRPr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F44B4B9-9BEE-0169-ABB4-B9AC45EB3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7200" y="2607545"/>
            <a:ext cx="1810179" cy="17412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3898245-98F4-C3C7-53EC-EDAB14054C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070900"/>
            <a:ext cx="3188245" cy="25717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027D20A-2BBF-D170-C8E6-B10592AC31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3835" y="2023340"/>
            <a:ext cx="1872565" cy="109681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14F253F-5658-2567-862E-BCAC1F401E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506" y="2433890"/>
            <a:ext cx="1888694" cy="184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6272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9"/>
          <p:cNvSpPr txBox="1">
            <a:spLocks noGrp="1"/>
          </p:cNvSpPr>
          <p:nvPr>
            <p:ph type="title"/>
          </p:nvPr>
        </p:nvSpPr>
        <p:spPr>
          <a:xfrm>
            <a:off x="341850" y="654800"/>
            <a:ext cx="8460300" cy="6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Tests &amp; Taux de couverture</a:t>
            </a:r>
            <a:endParaRPr dirty="0"/>
          </a:p>
        </p:txBody>
      </p:sp>
      <p:sp>
        <p:nvSpPr>
          <p:cNvPr id="350" name="Google Shape;350;p39"/>
          <p:cNvSpPr txBox="1"/>
          <p:nvPr/>
        </p:nvSpPr>
        <p:spPr>
          <a:xfrm>
            <a:off x="341850" y="3717724"/>
            <a:ext cx="2078077" cy="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000" dirty="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Tests unitaires :</a:t>
            </a:r>
            <a:endParaRPr sz="2000" dirty="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352" name="Google Shape;352;p39"/>
          <p:cNvSpPr txBox="1"/>
          <p:nvPr/>
        </p:nvSpPr>
        <p:spPr>
          <a:xfrm>
            <a:off x="2514476" y="3717724"/>
            <a:ext cx="2741015" cy="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000" dirty="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Tests d’intégration CPU :</a:t>
            </a:r>
            <a:endParaRPr sz="2000" dirty="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354" name="Google Shape;354;p39"/>
          <p:cNvSpPr txBox="1"/>
          <p:nvPr/>
        </p:nvSpPr>
        <p:spPr>
          <a:xfrm>
            <a:off x="4572000" y="2074574"/>
            <a:ext cx="43443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 u="sng" dirty="0">
                <a:solidFill>
                  <a:srgbClr val="C00000"/>
                </a:solidFill>
                <a:latin typeface="Roboto Mono"/>
                <a:ea typeface="Roboto Mono"/>
                <a:cs typeface="Roboto Mono"/>
                <a:sym typeface="Roboto Mono"/>
              </a:rPr>
              <a:t>DEMANDER a chat de faire un graphe </a:t>
            </a:r>
            <a:endParaRPr sz="1000" b="1" u="sng" dirty="0">
              <a:solidFill>
                <a:srgbClr val="C00000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355" name="Google Shape;355;p39"/>
          <p:cNvSpPr/>
          <p:nvPr/>
        </p:nvSpPr>
        <p:spPr>
          <a:xfrm>
            <a:off x="424826" y="3563260"/>
            <a:ext cx="389700" cy="10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56" name="Google Shape;356;p39"/>
          <p:cNvSpPr/>
          <p:nvPr/>
        </p:nvSpPr>
        <p:spPr>
          <a:xfrm>
            <a:off x="2590676" y="3563260"/>
            <a:ext cx="389700" cy="100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57" name="Google Shape;357;p39" title="Chart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4825" y="1320565"/>
            <a:ext cx="3372301" cy="145648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352;p39">
            <a:extLst>
              <a:ext uri="{FF2B5EF4-FFF2-40B4-BE49-F238E27FC236}">
                <a16:creationId xmlns:a16="http://schemas.microsoft.com/office/drawing/2014/main" id="{45FB7F7F-F4B0-797F-5B65-ACBC2C3FD4C4}"/>
              </a:ext>
            </a:extLst>
          </p:cNvPr>
          <p:cNvSpPr txBox="1"/>
          <p:nvPr/>
        </p:nvSpPr>
        <p:spPr>
          <a:xfrm>
            <a:off x="5576330" y="3705392"/>
            <a:ext cx="2741015" cy="671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000" dirty="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Tests d’intégration parseur/assembleur :</a:t>
            </a:r>
            <a:endParaRPr sz="2000" dirty="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3" name="Google Shape;356;p39">
            <a:extLst>
              <a:ext uri="{FF2B5EF4-FFF2-40B4-BE49-F238E27FC236}">
                <a16:creationId xmlns:a16="http://schemas.microsoft.com/office/drawing/2014/main" id="{D7656AAB-A8F1-5C81-7A9D-B2781D887EA7}"/>
              </a:ext>
            </a:extLst>
          </p:cNvPr>
          <p:cNvSpPr/>
          <p:nvPr/>
        </p:nvSpPr>
        <p:spPr>
          <a:xfrm>
            <a:off x="5680239" y="3563260"/>
            <a:ext cx="389700" cy="100800"/>
          </a:xfrm>
          <a:prstGeom prst="rect">
            <a:avLst/>
          </a:prstGeom>
          <a:solidFill>
            <a:schemeClr val="tx1">
              <a:lumMod val="25000"/>
              <a:lumOff val="7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C9F8AA-707B-AA9E-26CF-4661FF240D17}"/>
              </a:ext>
            </a:extLst>
          </p:cNvPr>
          <p:cNvSpPr txBox="1"/>
          <p:nvPr/>
        </p:nvSpPr>
        <p:spPr>
          <a:xfrm>
            <a:off x="424826" y="437686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latin typeface="VT323" panose="020B0604020202020204" charset="0"/>
              </a:rPr>
              <a:t>____%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C863B5-465A-D579-BF60-105C63A13C20}"/>
              </a:ext>
            </a:extLst>
          </p:cNvPr>
          <p:cNvSpPr txBox="1"/>
          <p:nvPr/>
        </p:nvSpPr>
        <p:spPr>
          <a:xfrm>
            <a:off x="2590676" y="4376861"/>
            <a:ext cx="29141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latin typeface="VT323" panose="020B0604020202020204" charset="0"/>
              </a:rPr>
              <a:t>____%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436F47-7AA3-BA94-5A8E-588B8093EBC2}"/>
              </a:ext>
            </a:extLst>
          </p:cNvPr>
          <p:cNvSpPr txBox="1"/>
          <p:nvPr/>
        </p:nvSpPr>
        <p:spPr>
          <a:xfrm>
            <a:off x="5576330" y="437686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latin typeface="VT323" panose="020B0604020202020204" charset="0"/>
              </a:rPr>
              <a:t>____%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 title="beautiful-sea-life-with-aquatic-animal (1).jpg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20933" r="20933"/>
          <a:stretch/>
        </p:blipFill>
        <p:spPr>
          <a:xfrm flipH="1">
            <a:off x="6386650" y="947025"/>
            <a:ext cx="2107500" cy="2067599"/>
          </a:xfrm>
          <a:prstGeom prst="rect">
            <a:avLst/>
          </a:prstGeom>
        </p:spPr>
      </p:pic>
      <p:sp>
        <p:nvSpPr>
          <p:cNvPr id="260" name="Google Shape;260;p32"/>
          <p:cNvSpPr txBox="1">
            <a:spLocks noGrp="1"/>
          </p:cNvSpPr>
          <p:nvPr>
            <p:ph type="subTitle" idx="1"/>
          </p:nvPr>
        </p:nvSpPr>
        <p:spPr>
          <a:xfrm>
            <a:off x="3465325" y="3918575"/>
            <a:ext cx="5174400" cy="66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hlinkClick r:id="rId4" action="ppaction://hlinkfile"/>
              </a:rPr>
              <a:t>DEMO</a:t>
            </a:r>
            <a:endParaRPr dirty="0"/>
          </a:p>
        </p:txBody>
      </p:sp>
      <p:sp>
        <p:nvSpPr>
          <p:cNvPr id="261" name="Google Shape;261;p32"/>
          <p:cNvSpPr txBox="1">
            <a:spLocks noGrp="1"/>
          </p:cNvSpPr>
          <p:nvPr>
            <p:ph type="title"/>
          </p:nvPr>
        </p:nvSpPr>
        <p:spPr>
          <a:xfrm>
            <a:off x="649850" y="1661809"/>
            <a:ext cx="4765964" cy="152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dirty="0"/>
              <a:t>Test fonctionnel final (démo) + Conclusion</a:t>
            </a:r>
            <a:endParaRPr dirty="0"/>
          </a:p>
        </p:txBody>
      </p:sp>
      <p:grpSp>
        <p:nvGrpSpPr>
          <p:cNvPr id="263" name="Google Shape;263;p32"/>
          <p:cNvGrpSpPr/>
          <p:nvPr/>
        </p:nvGrpSpPr>
        <p:grpSpPr>
          <a:xfrm>
            <a:off x="6386650" y="947025"/>
            <a:ext cx="2107351" cy="265500"/>
            <a:chOff x="6386650" y="947025"/>
            <a:chExt cx="2107351" cy="265500"/>
          </a:xfrm>
        </p:grpSpPr>
        <p:pic>
          <p:nvPicPr>
            <p:cNvPr id="264" name="Google Shape;264;p32" title="Sin título-2.png"/>
            <p:cNvPicPr preferRelativeResize="0"/>
            <p:nvPr/>
          </p:nvPicPr>
          <p:blipFill rotWithShape="1">
            <a:blip r:embed="rId5">
              <a:alphaModFix/>
            </a:blip>
            <a:srcRect l="71706"/>
            <a:stretch/>
          </p:blipFill>
          <p:spPr>
            <a:xfrm>
              <a:off x="6386650" y="947025"/>
              <a:ext cx="2107351" cy="265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5" name="Google Shape;265;p32" title="Sin título-2.png"/>
            <p:cNvPicPr preferRelativeResize="0"/>
            <p:nvPr/>
          </p:nvPicPr>
          <p:blipFill rotWithShape="1">
            <a:blip r:embed="rId5">
              <a:alphaModFix/>
            </a:blip>
            <a:srcRect l="71706"/>
            <a:stretch/>
          </p:blipFill>
          <p:spPr>
            <a:xfrm>
              <a:off x="6386650" y="947025"/>
              <a:ext cx="2107351" cy="2655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>
          <a:extLst>
            <a:ext uri="{FF2B5EF4-FFF2-40B4-BE49-F238E27FC236}">
              <a16:creationId xmlns:a16="http://schemas.microsoft.com/office/drawing/2014/main" id="{E14D5BA0-B525-88CB-DB21-2DA0E7EE5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3">
            <a:extLst>
              <a:ext uri="{FF2B5EF4-FFF2-40B4-BE49-F238E27FC236}">
                <a16:creationId xmlns:a16="http://schemas.microsoft.com/office/drawing/2014/main" id="{5663E228-51E2-D814-4DDB-10C764A34E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dirty="0"/>
              <a:t>Axes d’amélioration</a:t>
            </a:r>
          </a:p>
        </p:txBody>
      </p:sp>
      <p:sp>
        <p:nvSpPr>
          <p:cNvPr id="271" name="Google Shape;271;p33">
            <a:extLst>
              <a:ext uri="{FF2B5EF4-FFF2-40B4-BE49-F238E27FC236}">
                <a16:creationId xmlns:a16="http://schemas.microsoft.com/office/drawing/2014/main" id="{8C324620-FBE9-838E-8EA1-C3B726F7635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68386" y="1493075"/>
            <a:ext cx="6688278" cy="60297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fr-FR" b="1" dirty="0"/>
              <a:t>Architecture / Contrôleurs </a:t>
            </a:r>
            <a:r>
              <a:rPr lang="fr-FR" dirty="0"/>
              <a:t>: Faire dès le début une table de contrôle et un ordre d’implémentation des contrôleurs pour limiter les dépendances et les recâblages</a:t>
            </a:r>
          </a:p>
          <a:p>
            <a:pPr marL="0" lvl="0" indent="0"/>
            <a:endParaRPr lang="fr-FR" dirty="0"/>
          </a:p>
          <a:p>
            <a:pPr marL="0" lvl="0" indent="0"/>
            <a:endParaRPr lang="fr-FR" dirty="0"/>
          </a:p>
        </p:txBody>
      </p:sp>
      <p:sp>
        <p:nvSpPr>
          <p:cNvPr id="4" name="Google Shape;271;p33">
            <a:extLst>
              <a:ext uri="{FF2B5EF4-FFF2-40B4-BE49-F238E27FC236}">
                <a16:creationId xmlns:a16="http://schemas.microsoft.com/office/drawing/2014/main" id="{9D650A9D-16B6-22C2-3173-AD05CA541EF1}"/>
              </a:ext>
            </a:extLst>
          </p:cNvPr>
          <p:cNvSpPr txBox="1">
            <a:spLocks/>
          </p:cNvSpPr>
          <p:nvPr/>
        </p:nvSpPr>
        <p:spPr>
          <a:xfrm>
            <a:off x="1227861" y="2444472"/>
            <a:ext cx="6688278" cy="602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/>
            <a:r>
              <a:rPr lang="fr-FR" b="1" dirty="0"/>
              <a:t>Tests et vérification </a:t>
            </a:r>
            <a:r>
              <a:rPr lang="fr-FR" dirty="0"/>
              <a:t>: Augmenter la couverture avec une suite de non-régression (programmes courts) + tests de cas limites (flags, </a:t>
            </a:r>
            <a:r>
              <a:rPr lang="fr-FR" dirty="0" err="1"/>
              <a:t>overflow</a:t>
            </a:r>
            <a:r>
              <a:rPr lang="fr-FR" dirty="0"/>
              <a:t>, mémoire) et métriques de </a:t>
            </a:r>
            <a:r>
              <a:rPr lang="fr-FR" dirty="0" err="1"/>
              <a:t>coverage</a:t>
            </a:r>
            <a:endParaRPr lang="fr-FR" dirty="0"/>
          </a:p>
          <a:p>
            <a:pPr marL="0" indent="0"/>
            <a:endParaRPr lang="fr-FR" dirty="0"/>
          </a:p>
          <a:p>
            <a:pPr marL="0" indent="0"/>
            <a:endParaRPr lang="fr-FR" dirty="0"/>
          </a:p>
        </p:txBody>
      </p:sp>
      <p:sp>
        <p:nvSpPr>
          <p:cNvPr id="5" name="Google Shape;271;p33">
            <a:extLst>
              <a:ext uri="{FF2B5EF4-FFF2-40B4-BE49-F238E27FC236}">
                <a16:creationId xmlns:a16="http://schemas.microsoft.com/office/drawing/2014/main" id="{979D5A1B-5AA2-22F6-6D71-C5979ECE18D8}"/>
              </a:ext>
            </a:extLst>
          </p:cNvPr>
          <p:cNvSpPr txBox="1">
            <a:spLocks/>
          </p:cNvSpPr>
          <p:nvPr/>
        </p:nvSpPr>
        <p:spPr>
          <a:xfrm>
            <a:off x="1268386" y="3444359"/>
            <a:ext cx="6688278" cy="602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None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/>
            <a:r>
              <a:rPr lang="fr-FR" b="1" dirty="0"/>
              <a:t>Organisation de groupe </a:t>
            </a:r>
            <a:r>
              <a:rPr lang="fr-FR" dirty="0"/>
              <a:t>: Mettre en place des sprints avec livrables, revues d’intégration régulières et conventions d’interface (nom/largeurs/timing) pour sécuriser la collaboration</a:t>
            </a:r>
          </a:p>
          <a:p>
            <a:pPr marL="0" indent="0"/>
            <a:endParaRPr lang="fr-FR" dirty="0"/>
          </a:p>
          <a:p>
            <a:pPr marL="0" indent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549731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372;p41">
            <a:extLst>
              <a:ext uri="{FF2B5EF4-FFF2-40B4-BE49-F238E27FC236}">
                <a16:creationId xmlns:a16="http://schemas.microsoft.com/office/drawing/2014/main" id="{19B249C8-730E-A96E-110F-F92C97D7D7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40087" y="2017568"/>
            <a:ext cx="1463826" cy="110836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1"/>
                </a:solidFill>
              </a:rPr>
              <a:t>MERCI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1" name="Google Shape;390;p41">
            <a:extLst>
              <a:ext uri="{FF2B5EF4-FFF2-40B4-BE49-F238E27FC236}">
                <a16:creationId xmlns:a16="http://schemas.microsoft.com/office/drawing/2014/main" id="{6F719963-B74C-912D-D503-B4F38BFDB5DC}"/>
              </a:ext>
            </a:extLst>
          </p:cNvPr>
          <p:cNvSpPr txBox="1"/>
          <p:nvPr/>
        </p:nvSpPr>
        <p:spPr>
          <a:xfrm>
            <a:off x="341850" y="205291"/>
            <a:ext cx="44754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sz="16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Ezedine </a:t>
            </a:r>
            <a:r>
              <a:rPr lang="fr-FR" sz="1600" dirty="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/ Samy / Othman / Eliot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y Presentation Template">
  <a:themeElements>
    <a:clrScheme name="Simple Light">
      <a:dk1>
        <a:srgbClr val="191919"/>
      </a:dk1>
      <a:lt1>
        <a:srgbClr val="EFEFEF"/>
      </a:lt1>
      <a:dk2>
        <a:srgbClr val="707070"/>
      </a:dk2>
      <a:lt2>
        <a:srgbClr val="C1C1B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1375</Words>
  <Application>Microsoft Office PowerPoint</Application>
  <PresentationFormat>Affichage à l'écran (16:9)</PresentationFormat>
  <Paragraphs>180</Paragraphs>
  <Slides>16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5" baseType="lpstr">
      <vt:lpstr>Inter</vt:lpstr>
      <vt:lpstr>Raleway</vt:lpstr>
      <vt:lpstr>Arial</vt:lpstr>
      <vt:lpstr>Darker Grotesque SemiBold</vt:lpstr>
      <vt:lpstr>VT323</vt:lpstr>
      <vt:lpstr>Roboto Mono</vt:lpstr>
      <vt:lpstr>Hanken Grotesk</vt:lpstr>
      <vt:lpstr>Open Sans</vt:lpstr>
      <vt:lpstr>My Presentation Template</vt:lpstr>
      <vt:lpstr>Projet PARM  Processeur Polytech-ARM Cortex-M </vt:lpstr>
      <vt:lpstr>Agenda &amp; contraintes du projet</vt:lpstr>
      <vt:lpstr>Répartition des tâches</vt:lpstr>
      <vt:lpstr>Fonctionnement global (de bout en bout)</vt:lpstr>
      <vt:lpstr>Fonctionnement global (de bout en bout)</vt:lpstr>
      <vt:lpstr>Fonctionnement global (de bout en bout)</vt:lpstr>
      <vt:lpstr>Tableau jeu d’instructions</vt:lpstr>
      <vt:lpstr>Architecture CPU (datapath)</vt:lpstr>
      <vt:lpstr>ISA supportée (Thumb 16 bits) - ce que notre CPU exécute</vt:lpstr>
      <vt:lpstr>Assembleur / Parseur</vt:lpstr>
      <vt:lpstr>ALU + Indicateurs (NZCV)</vt:lpstr>
      <vt:lpstr>ALU + Indicateurs (NZCV)</vt:lpstr>
      <vt:lpstr>Tests &amp; Taux de couverture</vt:lpstr>
      <vt:lpstr>Test fonctionnel final (démo) + Conclusion</vt:lpstr>
      <vt:lpstr>Axes d’amélioration</vt:lpstr>
      <vt:lpstr>MERCI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Eliot SKINNER</dc:creator>
  <cp:lastModifiedBy>Ezedine Baratli</cp:lastModifiedBy>
  <cp:revision>8</cp:revision>
  <dcterms:modified xsi:type="dcterms:W3CDTF">2026-01-29T09:04:20Z</dcterms:modified>
</cp:coreProperties>
</file>