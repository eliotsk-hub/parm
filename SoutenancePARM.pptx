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57" r:id="rId3"/>
    <p:sldId id="293" r:id="rId4"/>
    <p:sldId id="263" r:id="rId5"/>
    <p:sldId id="294" r:id="rId6"/>
    <p:sldId id="262" r:id="rId7"/>
    <p:sldId id="258" r:id="rId8"/>
    <p:sldId id="259" r:id="rId9"/>
    <p:sldId id="261" r:id="rId10"/>
    <p:sldId id="291" r:id="rId11"/>
    <p:sldId id="267" r:id="rId12"/>
    <p:sldId id="260" r:id="rId13"/>
    <p:sldId id="292" r:id="rId14"/>
    <p:sldId id="268" r:id="rId15"/>
  </p:sldIdLst>
  <p:sldSz cx="9144000" cy="5143500" type="screen16x9"/>
  <p:notesSz cx="6858000" cy="9144000"/>
  <p:embeddedFontLst>
    <p:embeddedFont>
      <p:font typeface="Hanken Grotesk" panose="020B060402020202020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Raleway" pitchFamily="2" charset="0"/>
      <p:regular r:id="rId25"/>
      <p:bold r:id="rId26"/>
      <p:italic r:id="rId27"/>
      <p:boldItalic r:id="rId28"/>
    </p:embeddedFont>
    <p:embeddedFont>
      <p:font typeface="Roboto Mono" panose="00000009000000000000" pitchFamily="49" charset="0"/>
      <p:regular r:id="rId29"/>
      <p:bold r:id="rId30"/>
      <p:italic r:id="rId31"/>
      <p:boldItalic r:id="rId32"/>
    </p:embeddedFont>
    <p:embeddedFont>
      <p:font typeface="VT323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8766CA-E26D-4DF4-974C-C83455E116DF}">
  <a:tblStyle styleId="{528766CA-E26D-4DF4-974C-C83455E116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81904" autoAdjust="0"/>
  </p:normalViewPr>
  <p:slideViewPr>
    <p:cSldViewPr snapToGrid="0">
      <p:cViewPr varScale="1">
        <p:scale>
          <a:sx n="69" d="100"/>
          <a:sy n="69" d="100"/>
        </p:scale>
        <p:origin x="68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dfe6d7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/>
              <a:t>ISA</a:t>
            </a:r>
            <a:r>
              <a:rPr lang="fr-FR" dirty="0"/>
              <a:t> = le “langage” du processeur : la liste des instructions qu’il comprend (ADD, SUB, LDR, STR, B…)</a:t>
            </a:r>
          </a:p>
          <a:p>
            <a:r>
              <a:rPr lang="fr-FR" b="1" dirty="0" err="1"/>
              <a:t>Thumb</a:t>
            </a:r>
            <a:r>
              <a:rPr lang="fr-FR" b="1" dirty="0"/>
              <a:t> 16 bits</a:t>
            </a:r>
            <a:r>
              <a:rPr lang="fr-FR" dirty="0"/>
              <a:t> = dans votre projet, </a:t>
            </a:r>
            <a:r>
              <a:rPr lang="fr-FR" b="1" dirty="0"/>
              <a:t>chaque instruction est codée sur 16 bits</a:t>
            </a:r>
            <a:r>
              <a:rPr lang="fr-FR" dirty="0"/>
              <a:t> (2 octets).</a:t>
            </a:r>
            <a:br>
              <a:rPr lang="fr-FR" dirty="0"/>
            </a:br>
            <a:r>
              <a:rPr lang="fr-FR" dirty="0"/>
              <a:t>Donc en ROM, le programme est une suite de “mots” de 16 bits.</a:t>
            </a:r>
          </a:p>
          <a:p>
            <a:r>
              <a:rPr lang="fr-FR" b="1" dirty="0"/>
              <a:t>Données 32 bits</a:t>
            </a:r>
            <a:r>
              <a:rPr lang="fr-FR" dirty="0"/>
              <a:t> = les valeurs manipulées par le CPU (registres, ALU, résultats) sont sur </a:t>
            </a:r>
            <a:r>
              <a:rPr lang="fr-FR" b="1" dirty="0"/>
              <a:t>32 bits</a:t>
            </a:r>
            <a:r>
              <a:rPr lang="fr-FR" dirty="0"/>
              <a:t> (4 octets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4AEDC488-D816-B273-2D39-81AE064F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435D8D60-BD9F-4432-8D3E-2E65014BED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2447CC99-621B-E4DA-9F0E-C7F2D9721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290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D3464359-98B3-43AC-C204-7C85DAF3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1d838b627_4_100:notes">
            <a:extLst>
              <a:ext uri="{FF2B5EF4-FFF2-40B4-BE49-F238E27FC236}">
                <a16:creationId xmlns:a16="http://schemas.microsoft.com/office/drawing/2014/main" id="{559945D6-E07B-7291-9A0E-0980320E9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e1d838b627_4_100:notes">
            <a:extLst>
              <a:ext uri="{FF2B5EF4-FFF2-40B4-BE49-F238E27FC236}">
                <a16:creationId xmlns:a16="http://schemas.microsoft.com/office/drawing/2014/main" id="{370E82F1-0EE8-D17F-F469-ABDF8B73A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6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b="1" dirty="0"/>
              <a:t>ISA</a:t>
            </a:r>
            <a:r>
              <a:rPr lang="fr-FR" dirty="0"/>
              <a:t> = </a:t>
            </a:r>
            <a:r>
              <a:rPr lang="fr-FR" b="1" dirty="0"/>
              <a:t>Instruction Set Architecture</a:t>
            </a:r>
            <a:r>
              <a:rPr lang="fr-FR" dirty="0"/>
              <a:t> (</a:t>
            </a:r>
            <a:r>
              <a:rPr lang="fr-FR" i="1" dirty="0"/>
              <a:t>architecture du jeu d’instructions</a:t>
            </a:r>
            <a:r>
              <a:rPr lang="fr-FR" dirty="0"/>
              <a:t>).</a:t>
            </a:r>
            <a:endParaRPr lang="fr-FR" b="1" dirty="0"/>
          </a:p>
          <a:p>
            <a:endParaRPr lang="fr-FR" b="1" dirty="0"/>
          </a:p>
          <a:p>
            <a:r>
              <a:rPr lang="fr-FR" b="1" dirty="0"/>
              <a:t>Instructions codées sur 16 bits, données/ALU sur 32 bits.</a:t>
            </a:r>
            <a:endParaRPr lang="fr-FR" dirty="0"/>
          </a:p>
          <a:p>
            <a:r>
              <a:rPr lang="fr-FR" b="1" dirty="0"/>
              <a:t>LDR/STR prennent 2 cycles : (1) calcul adresse, (2) accès RAM + écriture registre.</a:t>
            </a:r>
          </a:p>
          <a:p>
            <a:endParaRPr lang="fr-FR" b="1" dirty="0"/>
          </a:p>
          <a:p>
            <a:r>
              <a:rPr lang="fr-FR" b="1" dirty="0"/>
              <a:t>Pourquoi 2 cycles (LDR/STR) ?</a:t>
            </a:r>
            <a:br>
              <a:rPr lang="fr-FR" dirty="0"/>
            </a:br>
            <a:r>
              <a:rPr lang="fr-FR" dirty="0"/>
              <a:t>« Parce qu’on fait d’abord le calcul de l’adresse (SP + offset), puis l’accès à la RAM : 2 étapes → 2 cycles. »</a:t>
            </a:r>
          </a:p>
          <a:p>
            <a:r>
              <a:rPr lang="fr-FR" b="1" dirty="0"/>
              <a:t>Pourquoi pas de BL ?</a:t>
            </a:r>
            <a:br>
              <a:rPr lang="fr-FR" dirty="0"/>
            </a:br>
            <a:r>
              <a:rPr lang="fr-FR" dirty="0"/>
              <a:t>« BL sert à appeler une fonction en sauvegardant l’adresse de retour ; notre projet ne gère que les branches simples, pas l’appel/retour. »</a:t>
            </a:r>
          </a:p>
          <a:p>
            <a:endParaRPr lang="fr-FR" dirty="0"/>
          </a:p>
          <a:p>
            <a:pPr marL="158750" indent="0">
              <a:buNone/>
            </a:pPr>
            <a:r>
              <a:rPr lang="fr-FR" b="1" dirty="0"/>
              <a:t>Les 4 blocs = les 4 grandes familles</a:t>
            </a:r>
            <a:endParaRPr lang="fr-FR" dirty="0"/>
          </a:p>
          <a:p>
            <a:pPr marL="158750" indent="0">
              <a:buNone/>
            </a:pPr>
            <a:r>
              <a:rPr lang="fr-FR" b="1" dirty="0"/>
              <a:t>Déplacements &amp; arithmétique</a:t>
            </a:r>
            <a:r>
              <a:rPr lang="fr-FR" dirty="0"/>
              <a:t> :</a:t>
            </a:r>
          </a:p>
          <a:p>
            <a:r>
              <a:rPr lang="fr-FR" dirty="0"/>
              <a:t>“On a les bases pour calculer :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</a:t>
            </a:r>
            <a:r>
              <a:rPr lang="fr-FR" dirty="0"/>
              <a:t> immédiat,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ADD/SUB</a:t>
            </a:r>
            <a:r>
              <a:rPr lang="fr-FR" dirty="0"/>
              <a:t>, et les décalages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LSL/LSR/ASR</a:t>
            </a:r>
            <a:r>
              <a:rPr lang="fr-FR" dirty="0"/>
              <a:t>.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CMP</a:t>
            </a:r>
            <a:r>
              <a:rPr lang="fr-FR" dirty="0"/>
              <a:t> sert à poser les flags pour les branches.”</a:t>
            </a:r>
          </a:p>
          <a:p>
            <a:pPr marL="158750" indent="0">
              <a:buNone/>
            </a:pPr>
            <a:r>
              <a:rPr lang="fr-FR" b="1" dirty="0"/>
              <a:t>Traitement logique/ALU</a:t>
            </a:r>
            <a:r>
              <a:rPr lang="fr-FR" dirty="0"/>
              <a:t> :</a:t>
            </a:r>
          </a:p>
          <a:p>
            <a:r>
              <a:rPr lang="fr-FR" dirty="0"/>
              <a:t>“On supporte les opérations logiques (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AND/ORR/EOR</a:t>
            </a:r>
            <a:r>
              <a:rPr lang="fr-FR" dirty="0"/>
              <a:t>), et celles avec retenue (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ADC/SBC</a:t>
            </a:r>
            <a:r>
              <a:rPr lang="fr-FR" dirty="0"/>
              <a:t>) + tests (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TST/CMN</a:t>
            </a:r>
            <a:r>
              <a:rPr lang="fr-FR" dirty="0"/>
              <a:t>).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</a:t>
            </a:r>
            <a:r>
              <a:rPr lang="fr-FR" dirty="0"/>
              <a:t> dépend si on l’a implémenté.”</a:t>
            </a:r>
          </a:p>
          <a:p>
            <a:pPr marL="158750" indent="0">
              <a:buNone/>
            </a:pPr>
            <a:r>
              <a:rPr lang="fr-FR" b="1" dirty="0"/>
              <a:t>Mémoire (pile)</a:t>
            </a:r>
            <a:r>
              <a:rPr lang="fr-FR" dirty="0"/>
              <a:t> :</a:t>
            </a:r>
          </a:p>
          <a:p>
            <a:r>
              <a:rPr lang="fr-FR" dirty="0"/>
              <a:t>“La RAM est utilisée </a:t>
            </a:r>
            <a:r>
              <a:rPr lang="fr-FR" b="1" dirty="0"/>
              <a:t>via la pile</a:t>
            </a:r>
            <a:r>
              <a:rPr lang="fr-FR" dirty="0"/>
              <a:t> :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LDR/STR</a:t>
            </a:r>
            <a:r>
              <a:rPr lang="fr-FR" dirty="0"/>
              <a:t> en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 + offset</a:t>
            </a:r>
            <a:r>
              <a:rPr lang="fr-FR" dirty="0"/>
              <a:t>. Donc les variables locales du C sont stockées sur la pile, et on simplifie l’adressage.”</a:t>
            </a:r>
            <a:br>
              <a:rPr lang="fr-FR" dirty="0"/>
            </a:br>
            <a:r>
              <a:rPr lang="fr-FR" dirty="0"/>
              <a:t>(si tu veux) &gt; “On a un accès mémoire qui peut prendre </a:t>
            </a:r>
            <a:r>
              <a:rPr lang="fr-FR" b="1" dirty="0"/>
              <a:t>2 cycles</a:t>
            </a:r>
            <a:r>
              <a:rPr lang="fr-FR" dirty="0"/>
              <a:t> dans notre design.”</a:t>
            </a:r>
          </a:p>
          <a:p>
            <a:pPr marL="158750" indent="0">
              <a:buNone/>
            </a:pPr>
            <a:r>
              <a:rPr lang="fr-FR" b="1" dirty="0"/>
              <a:t>Branchements</a:t>
            </a:r>
            <a:r>
              <a:rPr lang="fr-FR" dirty="0"/>
              <a:t> :</a:t>
            </a:r>
          </a:p>
          <a:p>
            <a:r>
              <a:rPr lang="fr-FR" dirty="0"/>
              <a:t>“On a les branchements </a:t>
            </a:r>
            <a:r>
              <a:rPr lang="fr-FR" b="1" dirty="0"/>
              <a:t>conditionnels</a:t>
            </a:r>
            <a:r>
              <a:rPr lang="fr-FR" dirty="0"/>
              <a:t> basés sur NZCV, avec un offset signé. Et on </a:t>
            </a:r>
            <a:r>
              <a:rPr lang="fr-FR" b="1" dirty="0"/>
              <a:t>n’a pas </a:t>
            </a:r>
            <a:r>
              <a:rPr lang="fr-F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</a:t>
            </a:r>
            <a:r>
              <a:rPr lang="fr-FR" dirty="0"/>
              <a:t>, donc pas d’appels de fonction : tout le code reste dans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run()</a:t>
            </a:r>
            <a:r>
              <a:rPr lang="fr-FR" dirty="0"/>
              <a:t>.”</a:t>
            </a:r>
          </a:p>
          <a:p>
            <a:endParaRPr lang="fr-FR" dirty="0"/>
          </a:p>
          <a:p>
            <a:pPr marL="158750" indent="0"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b="1" dirty="0"/>
              <a:t>Supporté </a:t>
            </a:r>
          </a:p>
          <a:p>
            <a:r>
              <a:rPr lang="fr-FR" dirty="0"/>
              <a:t>Sous-ensemble d’instructions (celles de notre CPU)</a:t>
            </a:r>
          </a:p>
          <a:p>
            <a:r>
              <a:rPr lang="fr-FR" b="1" dirty="0"/>
              <a:t>Immédiats / offsets</a:t>
            </a:r>
            <a:r>
              <a:rPr lang="fr-FR" dirty="0"/>
              <a:t> dans les limites</a:t>
            </a:r>
          </a:p>
          <a:p>
            <a:r>
              <a:rPr lang="fr-FR" b="1" dirty="0"/>
              <a:t>Commentaires</a:t>
            </a:r>
            <a:r>
              <a:rPr lang="fr-FR" dirty="0"/>
              <a:t> ignorés</a:t>
            </a:r>
          </a:p>
          <a:p>
            <a:r>
              <a:rPr lang="fr-FR" b="1" dirty="0"/>
              <a:t>Labels + branches</a:t>
            </a:r>
            <a:r>
              <a:rPr lang="fr-FR" dirty="0"/>
              <a:t> (sauts)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b="1" dirty="0"/>
              <a:t>Vérifications </a:t>
            </a:r>
          </a:p>
          <a:p>
            <a:r>
              <a:rPr lang="fr-FR" dirty="0"/>
              <a:t>format d’instruction invalide</a:t>
            </a:r>
          </a:p>
          <a:p>
            <a:r>
              <a:rPr lang="fr-FR" dirty="0"/>
              <a:t>registre invalide</a:t>
            </a:r>
          </a:p>
          <a:p>
            <a:r>
              <a:rPr lang="fr-FR" dirty="0"/>
              <a:t>immédiat/offset trop grand</a:t>
            </a:r>
          </a:p>
          <a:p>
            <a:r>
              <a:rPr lang="fr-FR" dirty="0"/>
              <a:t>label inconnu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DAD9FCF3-25AC-C36D-DD3B-2CEC0C89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>
            <a:extLst>
              <a:ext uri="{FF2B5EF4-FFF2-40B4-BE49-F238E27FC236}">
                <a16:creationId xmlns:a16="http://schemas.microsoft.com/office/drawing/2014/main" id="{0AF95C57-846B-F76D-A118-35278DB34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>
            <a:extLst>
              <a:ext uri="{FF2B5EF4-FFF2-40B4-BE49-F238E27FC236}">
                <a16:creationId xmlns:a16="http://schemas.microsoft.com/office/drawing/2014/main" id="{B374EEC7-BB73-2B5B-632B-FFC6295F4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b="1" dirty="0"/>
              <a:t>Indicateurs NZCV</a:t>
            </a:r>
            <a:endParaRPr lang="fr-FR" dirty="0"/>
          </a:p>
          <a:p>
            <a:r>
              <a:rPr lang="fr-FR" b="1" dirty="0"/>
              <a:t>N</a:t>
            </a:r>
            <a:r>
              <a:rPr lang="fr-FR" dirty="0"/>
              <a:t> : résultat négatif</a:t>
            </a:r>
          </a:p>
          <a:p>
            <a:r>
              <a:rPr lang="fr-FR" b="1" dirty="0"/>
              <a:t>Z</a:t>
            </a:r>
            <a:r>
              <a:rPr lang="fr-FR" dirty="0"/>
              <a:t> : résultat = 0</a:t>
            </a:r>
          </a:p>
          <a:p>
            <a:r>
              <a:rPr lang="fr-FR" b="1" dirty="0"/>
              <a:t>C</a:t>
            </a:r>
            <a:r>
              <a:rPr lang="fr-FR" dirty="0"/>
              <a:t> : retenue (carry)</a:t>
            </a:r>
          </a:p>
          <a:p>
            <a:r>
              <a:rPr lang="fr-FR" b="1" dirty="0"/>
              <a:t>V</a:t>
            </a:r>
            <a:r>
              <a:rPr lang="fr-FR" dirty="0"/>
              <a:t> : dépassement (</a:t>
            </a:r>
            <a:r>
              <a:rPr lang="fr-FR" dirty="0" err="1"/>
              <a:t>overflow</a:t>
            </a:r>
            <a:r>
              <a:rPr lang="fr-F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06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fe25653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dfe25653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Démo (2 min)</a:t>
            </a:r>
          </a:p>
          <a:p>
            <a:r>
              <a:rPr lang="fr-FR" dirty="0"/>
              <a:t>lancer </a:t>
            </a:r>
            <a:r>
              <a:rPr lang="fr-FR" b="1" dirty="0"/>
              <a:t>1 test unitaire</a:t>
            </a:r>
            <a:r>
              <a:rPr lang="fr-FR" dirty="0"/>
              <a:t> (rapide)</a:t>
            </a:r>
          </a:p>
          <a:p>
            <a:r>
              <a:rPr lang="fr-FR" dirty="0"/>
              <a:t>lancer </a:t>
            </a:r>
            <a:r>
              <a:rPr lang="fr-FR" b="1" dirty="0"/>
              <a:t>1 test intégration CPU</a:t>
            </a:r>
            <a:r>
              <a:rPr lang="fr-FR" dirty="0"/>
              <a:t> (votre programme le plus complet)</a:t>
            </a:r>
          </a:p>
          <a:p>
            <a:r>
              <a:rPr lang="fr-FR" dirty="0"/>
              <a:t>lancer </a:t>
            </a:r>
            <a:r>
              <a:rPr lang="fr-FR" b="1" dirty="0"/>
              <a:t>1 test parseur</a:t>
            </a:r>
            <a:r>
              <a:rPr lang="fr-FR" dirty="0"/>
              <a:t> (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.s → .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hex</a:t>
            </a:r>
            <a:r>
              <a:rPr lang="fr-FR" dirty="0"/>
              <a:t> + exemple d’erreur gérée)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0B78C025-7CE2-DC20-2CB9-3A878782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>
            <a:extLst>
              <a:ext uri="{FF2B5EF4-FFF2-40B4-BE49-F238E27FC236}">
                <a16:creationId xmlns:a16="http://schemas.microsoft.com/office/drawing/2014/main" id="{D3BE5198-DFC0-EBE7-5DB6-342198961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>
            <a:extLst>
              <a:ext uri="{FF2B5EF4-FFF2-40B4-BE49-F238E27FC236}">
                <a16:creationId xmlns:a16="http://schemas.microsoft.com/office/drawing/2014/main" id="{E6C84B54-228B-764D-A11A-93B5A0577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b="1" dirty="0"/>
              <a:t>Indicateurs NZCV</a:t>
            </a:r>
            <a:endParaRPr lang="fr-FR" dirty="0"/>
          </a:p>
          <a:p>
            <a:r>
              <a:rPr lang="fr-FR" b="1" dirty="0"/>
              <a:t>N</a:t>
            </a:r>
            <a:r>
              <a:rPr lang="fr-FR" dirty="0"/>
              <a:t> : résultat négatif</a:t>
            </a:r>
          </a:p>
          <a:p>
            <a:r>
              <a:rPr lang="fr-FR" b="1" dirty="0"/>
              <a:t>Z</a:t>
            </a:r>
            <a:r>
              <a:rPr lang="fr-FR" dirty="0"/>
              <a:t> : résultat = 0</a:t>
            </a:r>
          </a:p>
          <a:p>
            <a:r>
              <a:rPr lang="fr-FR" b="1" dirty="0"/>
              <a:t>C</a:t>
            </a:r>
            <a:r>
              <a:rPr lang="fr-FR" dirty="0"/>
              <a:t> : retenue (carry)</a:t>
            </a:r>
          </a:p>
          <a:p>
            <a:r>
              <a:rPr lang="fr-FR" b="1" dirty="0"/>
              <a:t>V</a:t>
            </a:r>
            <a:r>
              <a:rPr lang="fr-FR" dirty="0"/>
              <a:t> : dépassement (</a:t>
            </a:r>
            <a:r>
              <a:rPr lang="fr-FR" dirty="0" err="1"/>
              <a:t>overflow</a:t>
            </a:r>
            <a:r>
              <a:rPr lang="fr-F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84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2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 hasCustomPrompt="1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6" hasCustomPrompt="1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8" hasCustomPrompt="1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9" hasCustomPrompt="1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>
            <a:spLocks noGrp="1"/>
          </p:cNvSpPr>
          <p:nvPr>
            <p:ph type="subTitle" idx="1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2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3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 hasCustomPrompt="1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 idx="4" hasCustomPrompt="1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5" hasCustomPrompt="1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>
            <a:spLocks noGrp="1"/>
          </p:cNvSpPr>
          <p:nvPr>
            <p:ph type="title" hasCustomPrompt="1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2" hasCustomPrompt="1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3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6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ARM_error_tes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file:///C:\Code\PAR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title="nature-landscape-with-vegetation-flora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1657" t="9673" r="9487"/>
          <a:stretch/>
        </p:blipFill>
        <p:spPr>
          <a:xfrm>
            <a:off x="5805375" y="1317075"/>
            <a:ext cx="2831677" cy="2648200"/>
          </a:xfrm>
          <a:prstGeom prst="rect">
            <a:avLst/>
          </a:prstGeom>
        </p:spPr>
      </p:pic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Projet PARM</a:t>
            </a:r>
            <a:r>
              <a:rPr lang="en" dirty="0"/>
              <a:t> </a:t>
            </a:r>
            <a:endParaRPr dirty="0"/>
          </a:p>
          <a:p>
            <a:pPr lvl="0"/>
            <a:r>
              <a:rPr lang="fr-FR" dirty="0"/>
              <a:t>Processeur Polytech-ARM Cortex-M </a:t>
            </a:r>
            <a:endParaRPr dirty="0"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559754" y="3549627"/>
            <a:ext cx="43515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(simulation </a:t>
            </a:r>
            <a:r>
              <a:rPr lang="fr-FR" dirty="0" err="1"/>
              <a:t>Logisim</a:t>
            </a:r>
            <a:r>
              <a:rPr lang="fr-FR" dirty="0"/>
              <a:t>)</a:t>
            </a:r>
            <a:endParaRPr dirty="0"/>
          </a:p>
        </p:txBody>
      </p:sp>
      <p:sp>
        <p:nvSpPr>
          <p:cNvPr id="182" name="Google Shape;182;p28"/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Ezedine / Samy / Othman / Eliot</a:t>
            </a:r>
            <a:endParaRPr sz="1600" dirty="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Agenda &amp; contraintes du projet</a:t>
            </a:r>
            <a:endParaRPr dirty="0"/>
          </a:p>
        </p:txBody>
      </p:sp>
      <p:sp>
        <p:nvSpPr>
          <p:cNvPr id="189" name="Google Shape;189;p29"/>
          <p:cNvSpPr/>
          <p:nvPr/>
        </p:nvSpPr>
        <p:spPr>
          <a:xfrm>
            <a:off x="1142331" y="1798492"/>
            <a:ext cx="137190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sz="1100" b="1" u="sng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809793" y="2345680"/>
            <a:ext cx="2376752" cy="21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Slides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n-US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compréhension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globale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+ architecture (~4 min)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000" b="1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Démo</a:t>
            </a:r>
            <a:r>
              <a:rPr lang="en-US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CPU Logisim 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:  </a:t>
            </a:r>
            <a:r>
              <a:rPr lang="en-US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exécution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pas-à-pas (~2 min)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000" b="1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Démo</a:t>
            </a:r>
            <a:r>
              <a:rPr lang="en-US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b="1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assembleur</a:t>
            </a:r>
            <a:r>
              <a:rPr lang="en-US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:                 .s → .hex Logisim (~2 min)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1000" b="1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Démo</a:t>
            </a:r>
            <a:r>
              <a:rPr lang="en-US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tests 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+                       </a:t>
            </a:r>
            <a:r>
              <a:rPr lang="en-US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taux</a:t>
            </a: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de couverture (~2 min)</a:t>
            </a:r>
          </a:p>
        </p:txBody>
      </p:sp>
      <p:sp>
        <p:nvSpPr>
          <p:cNvPr id="191" name="Google Shape;191;p29"/>
          <p:cNvSpPr/>
          <p:nvPr/>
        </p:nvSpPr>
        <p:spPr>
          <a:xfrm>
            <a:off x="0" y="4801425"/>
            <a:ext cx="9144000" cy="34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066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/>
          <p:nvPr/>
        </p:nvSpPr>
        <p:spPr>
          <a:xfrm>
            <a:off x="3719775" y="1814105"/>
            <a:ext cx="170445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Cadre / contraintes imposées</a:t>
            </a:r>
            <a:endParaRPr sz="1100" b="1" u="sng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3336453" y="2306666"/>
            <a:ext cx="2810871" cy="232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ISA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Thumb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16 bits (instructions sur 16 bits), données 32 bits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Mémoire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: ROM (programme) + RAM (données) dans </a:t>
            </a: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Logisim</a:t>
            </a:r>
            <a:endParaRPr lang="fr-FR"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Timing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: LDR/STR = 2 cycles, le reste = 1 cycle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Objectif soutenance 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: expliquer tout le fonctionnement, puis montrer le test fonctionnel le plus complet</a:t>
            </a:r>
            <a:endParaRPr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6463495" y="1752261"/>
            <a:ext cx="170445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Ce qu’on va prouver aujourd’hui</a:t>
            </a:r>
            <a:endParaRPr sz="1100" b="1" u="sng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6251818" y="2283012"/>
            <a:ext cx="2448837" cy="110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Que la chaîne complète fonctionne :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assembleur → ROM → CPU </a:t>
            </a: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Logisim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→ résultat + tests/couverture.</a:t>
            </a:r>
            <a:endParaRPr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" name="Google Shape;1968;p52">
            <a:extLst>
              <a:ext uri="{FF2B5EF4-FFF2-40B4-BE49-F238E27FC236}">
                <a16:creationId xmlns:a16="http://schemas.microsoft.com/office/drawing/2014/main" id="{F891678C-C938-61CC-9D03-277EC1105BB3}"/>
              </a:ext>
            </a:extLst>
          </p:cNvPr>
          <p:cNvGrpSpPr/>
          <p:nvPr/>
        </p:nvGrpSpPr>
        <p:grpSpPr>
          <a:xfrm>
            <a:off x="7036386" y="3458987"/>
            <a:ext cx="879699" cy="998200"/>
            <a:chOff x="6870193" y="2295620"/>
            <a:chExt cx="360356" cy="343462"/>
          </a:xfrm>
        </p:grpSpPr>
        <p:sp>
          <p:nvSpPr>
            <p:cNvPr id="9" name="Google Shape;1969;p52">
              <a:extLst>
                <a:ext uri="{FF2B5EF4-FFF2-40B4-BE49-F238E27FC236}">
                  <a16:creationId xmlns:a16="http://schemas.microsoft.com/office/drawing/2014/main" id="{58A3A435-EEAA-26F9-5709-BCBFB1908008}"/>
                </a:ext>
              </a:extLst>
            </p:cNvPr>
            <p:cNvSpPr/>
            <p:nvPr/>
          </p:nvSpPr>
          <p:spPr>
            <a:xfrm>
              <a:off x="6870193" y="2295620"/>
              <a:ext cx="360356" cy="343462"/>
            </a:xfrm>
            <a:custGeom>
              <a:avLst/>
              <a:gdLst/>
              <a:ahLst/>
              <a:cxnLst/>
              <a:rect l="l" t="t" r="r" b="b"/>
              <a:pathLst>
                <a:path w="11348" h="10816" extrusionOk="0">
                  <a:moveTo>
                    <a:pt x="6027" y="0"/>
                  </a:moveTo>
                  <a:cubicBezTo>
                    <a:pt x="5700" y="0"/>
                    <a:pt x="5448" y="70"/>
                    <a:pt x="5430" y="76"/>
                  </a:cubicBezTo>
                  <a:cubicBezTo>
                    <a:pt x="5358" y="112"/>
                    <a:pt x="5299" y="172"/>
                    <a:pt x="5299" y="255"/>
                  </a:cubicBezTo>
                  <a:lnTo>
                    <a:pt x="5299" y="2731"/>
                  </a:lnTo>
                  <a:lnTo>
                    <a:pt x="3501" y="5017"/>
                  </a:lnTo>
                  <a:cubicBezTo>
                    <a:pt x="3441" y="4767"/>
                    <a:pt x="3215" y="4577"/>
                    <a:pt x="2929" y="4577"/>
                  </a:cubicBezTo>
                  <a:lnTo>
                    <a:pt x="584" y="4577"/>
                  </a:lnTo>
                  <a:cubicBezTo>
                    <a:pt x="274" y="4577"/>
                    <a:pt x="1" y="4827"/>
                    <a:pt x="1" y="5160"/>
                  </a:cubicBezTo>
                  <a:lnTo>
                    <a:pt x="1" y="5732"/>
                  </a:lnTo>
                  <a:cubicBezTo>
                    <a:pt x="1" y="5839"/>
                    <a:pt x="96" y="5910"/>
                    <a:pt x="179" y="5910"/>
                  </a:cubicBezTo>
                  <a:cubicBezTo>
                    <a:pt x="274" y="5910"/>
                    <a:pt x="358" y="5827"/>
                    <a:pt x="358" y="5732"/>
                  </a:cubicBezTo>
                  <a:lnTo>
                    <a:pt x="358" y="5160"/>
                  </a:lnTo>
                  <a:cubicBezTo>
                    <a:pt x="358" y="5041"/>
                    <a:pt x="453" y="4946"/>
                    <a:pt x="572" y="4946"/>
                  </a:cubicBezTo>
                  <a:lnTo>
                    <a:pt x="2918" y="4946"/>
                  </a:lnTo>
                  <a:cubicBezTo>
                    <a:pt x="3037" y="4946"/>
                    <a:pt x="3132" y="5041"/>
                    <a:pt x="3132" y="5160"/>
                  </a:cubicBezTo>
                  <a:lnTo>
                    <a:pt x="3132" y="10232"/>
                  </a:lnTo>
                  <a:cubicBezTo>
                    <a:pt x="3132" y="10351"/>
                    <a:pt x="3037" y="10435"/>
                    <a:pt x="2918" y="10435"/>
                  </a:cubicBezTo>
                  <a:lnTo>
                    <a:pt x="572" y="10435"/>
                  </a:lnTo>
                  <a:cubicBezTo>
                    <a:pt x="453" y="10435"/>
                    <a:pt x="358" y="10351"/>
                    <a:pt x="358" y="10232"/>
                  </a:cubicBezTo>
                  <a:lnTo>
                    <a:pt x="358" y="6506"/>
                  </a:lnTo>
                  <a:cubicBezTo>
                    <a:pt x="358" y="6410"/>
                    <a:pt x="274" y="6327"/>
                    <a:pt x="179" y="6327"/>
                  </a:cubicBezTo>
                  <a:cubicBezTo>
                    <a:pt x="72" y="6327"/>
                    <a:pt x="1" y="6422"/>
                    <a:pt x="1" y="6506"/>
                  </a:cubicBezTo>
                  <a:lnTo>
                    <a:pt x="1" y="10232"/>
                  </a:lnTo>
                  <a:cubicBezTo>
                    <a:pt x="1" y="10542"/>
                    <a:pt x="251" y="10816"/>
                    <a:pt x="584" y="10816"/>
                  </a:cubicBezTo>
                  <a:lnTo>
                    <a:pt x="2929" y="10816"/>
                  </a:lnTo>
                  <a:cubicBezTo>
                    <a:pt x="3251" y="10816"/>
                    <a:pt x="3513" y="10554"/>
                    <a:pt x="3513" y="10232"/>
                  </a:cubicBezTo>
                  <a:lnTo>
                    <a:pt x="3513" y="9744"/>
                  </a:lnTo>
                  <a:lnTo>
                    <a:pt x="4418" y="10185"/>
                  </a:lnTo>
                  <a:cubicBezTo>
                    <a:pt x="4453" y="10197"/>
                    <a:pt x="4477" y="10197"/>
                    <a:pt x="4513" y="10197"/>
                  </a:cubicBezTo>
                  <a:lnTo>
                    <a:pt x="8025" y="10197"/>
                  </a:lnTo>
                  <a:cubicBezTo>
                    <a:pt x="8132" y="10197"/>
                    <a:pt x="8204" y="10113"/>
                    <a:pt x="8204" y="10018"/>
                  </a:cubicBezTo>
                  <a:cubicBezTo>
                    <a:pt x="8204" y="9923"/>
                    <a:pt x="8109" y="9839"/>
                    <a:pt x="8025" y="9839"/>
                  </a:cubicBezTo>
                  <a:lnTo>
                    <a:pt x="4561" y="9839"/>
                  </a:lnTo>
                  <a:lnTo>
                    <a:pt x="3525" y="9327"/>
                  </a:lnTo>
                  <a:lnTo>
                    <a:pt x="3525" y="5589"/>
                  </a:lnTo>
                  <a:lnTo>
                    <a:pt x="5644" y="2910"/>
                  </a:lnTo>
                  <a:cubicBezTo>
                    <a:pt x="5668" y="2874"/>
                    <a:pt x="5692" y="2839"/>
                    <a:pt x="5692" y="2791"/>
                  </a:cubicBezTo>
                  <a:lnTo>
                    <a:pt x="5692" y="398"/>
                  </a:lnTo>
                  <a:cubicBezTo>
                    <a:pt x="5787" y="379"/>
                    <a:pt x="5924" y="358"/>
                    <a:pt x="6080" y="358"/>
                  </a:cubicBezTo>
                  <a:cubicBezTo>
                    <a:pt x="6313" y="358"/>
                    <a:pt x="6587" y="405"/>
                    <a:pt x="6823" y="576"/>
                  </a:cubicBezTo>
                  <a:cubicBezTo>
                    <a:pt x="7132" y="791"/>
                    <a:pt x="7275" y="1207"/>
                    <a:pt x="7275" y="1803"/>
                  </a:cubicBezTo>
                  <a:lnTo>
                    <a:pt x="7275" y="3755"/>
                  </a:lnTo>
                  <a:cubicBezTo>
                    <a:pt x="7275" y="3862"/>
                    <a:pt x="7370" y="3934"/>
                    <a:pt x="7454" y="3934"/>
                  </a:cubicBezTo>
                  <a:lnTo>
                    <a:pt x="10395" y="3934"/>
                  </a:lnTo>
                  <a:cubicBezTo>
                    <a:pt x="10716" y="3934"/>
                    <a:pt x="10990" y="4208"/>
                    <a:pt x="10990" y="4529"/>
                  </a:cubicBezTo>
                  <a:cubicBezTo>
                    <a:pt x="10990" y="4863"/>
                    <a:pt x="10716" y="5125"/>
                    <a:pt x="10395" y="5125"/>
                  </a:cubicBezTo>
                  <a:lnTo>
                    <a:pt x="8823" y="5125"/>
                  </a:lnTo>
                  <a:cubicBezTo>
                    <a:pt x="8728" y="5125"/>
                    <a:pt x="8644" y="5220"/>
                    <a:pt x="8644" y="5303"/>
                  </a:cubicBezTo>
                  <a:cubicBezTo>
                    <a:pt x="8644" y="5410"/>
                    <a:pt x="8740" y="5482"/>
                    <a:pt x="8823" y="5482"/>
                  </a:cubicBezTo>
                  <a:lnTo>
                    <a:pt x="10228" y="5482"/>
                  </a:lnTo>
                  <a:cubicBezTo>
                    <a:pt x="10538" y="5494"/>
                    <a:pt x="10788" y="5767"/>
                    <a:pt x="10788" y="6077"/>
                  </a:cubicBezTo>
                  <a:cubicBezTo>
                    <a:pt x="10788" y="6399"/>
                    <a:pt x="10526" y="6672"/>
                    <a:pt x="10192" y="6672"/>
                  </a:cubicBezTo>
                  <a:lnTo>
                    <a:pt x="8823" y="6672"/>
                  </a:lnTo>
                  <a:cubicBezTo>
                    <a:pt x="8728" y="6672"/>
                    <a:pt x="8644" y="6768"/>
                    <a:pt x="8644" y="6851"/>
                  </a:cubicBezTo>
                  <a:cubicBezTo>
                    <a:pt x="8644" y="6958"/>
                    <a:pt x="8740" y="7030"/>
                    <a:pt x="8823" y="7030"/>
                  </a:cubicBezTo>
                  <a:lnTo>
                    <a:pt x="10073" y="7030"/>
                  </a:lnTo>
                  <a:cubicBezTo>
                    <a:pt x="10371" y="7053"/>
                    <a:pt x="10597" y="7327"/>
                    <a:pt x="10597" y="7625"/>
                  </a:cubicBezTo>
                  <a:cubicBezTo>
                    <a:pt x="10597" y="7946"/>
                    <a:pt x="10335" y="8220"/>
                    <a:pt x="10002" y="8220"/>
                  </a:cubicBezTo>
                  <a:lnTo>
                    <a:pt x="8823" y="8220"/>
                  </a:lnTo>
                  <a:cubicBezTo>
                    <a:pt x="8728" y="8220"/>
                    <a:pt x="8644" y="8315"/>
                    <a:pt x="8644" y="8399"/>
                  </a:cubicBezTo>
                  <a:cubicBezTo>
                    <a:pt x="8644" y="8506"/>
                    <a:pt x="8740" y="8577"/>
                    <a:pt x="8823" y="8577"/>
                  </a:cubicBezTo>
                  <a:lnTo>
                    <a:pt x="9883" y="8577"/>
                  </a:lnTo>
                  <a:cubicBezTo>
                    <a:pt x="9895" y="8577"/>
                    <a:pt x="9918" y="8589"/>
                    <a:pt x="9918" y="8589"/>
                  </a:cubicBezTo>
                  <a:cubicBezTo>
                    <a:pt x="10192" y="8649"/>
                    <a:pt x="10407" y="8887"/>
                    <a:pt x="10407" y="9185"/>
                  </a:cubicBezTo>
                  <a:cubicBezTo>
                    <a:pt x="10407" y="9518"/>
                    <a:pt x="10133" y="9780"/>
                    <a:pt x="9811" y="9780"/>
                  </a:cubicBezTo>
                  <a:lnTo>
                    <a:pt x="8823" y="9780"/>
                  </a:lnTo>
                  <a:cubicBezTo>
                    <a:pt x="8728" y="9780"/>
                    <a:pt x="8644" y="9875"/>
                    <a:pt x="8644" y="9958"/>
                  </a:cubicBezTo>
                  <a:cubicBezTo>
                    <a:pt x="8644" y="10066"/>
                    <a:pt x="8740" y="10137"/>
                    <a:pt x="8823" y="10137"/>
                  </a:cubicBezTo>
                  <a:lnTo>
                    <a:pt x="9811" y="10137"/>
                  </a:lnTo>
                  <a:cubicBezTo>
                    <a:pt x="10347" y="10137"/>
                    <a:pt x="10776" y="9708"/>
                    <a:pt x="10776" y="9173"/>
                  </a:cubicBezTo>
                  <a:cubicBezTo>
                    <a:pt x="10776" y="8887"/>
                    <a:pt x="10657" y="8637"/>
                    <a:pt x="10466" y="8458"/>
                  </a:cubicBezTo>
                  <a:cubicBezTo>
                    <a:pt x="10764" y="8292"/>
                    <a:pt x="10966" y="7982"/>
                    <a:pt x="10966" y="7613"/>
                  </a:cubicBezTo>
                  <a:cubicBezTo>
                    <a:pt x="10966" y="7327"/>
                    <a:pt x="10847" y="7077"/>
                    <a:pt x="10657" y="6899"/>
                  </a:cubicBezTo>
                  <a:cubicBezTo>
                    <a:pt x="10954" y="6803"/>
                    <a:pt x="11145" y="6482"/>
                    <a:pt x="11145" y="6113"/>
                  </a:cubicBezTo>
                  <a:cubicBezTo>
                    <a:pt x="11145" y="5827"/>
                    <a:pt x="11026" y="5577"/>
                    <a:pt x="10835" y="5398"/>
                  </a:cubicBezTo>
                  <a:cubicBezTo>
                    <a:pt x="11133" y="5232"/>
                    <a:pt x="11347" y="4922"/>
                    <a:pt x="11347" y="4541"/>
                  </a:cubicBezTo>
                  <a:cubicBezTo>
                    <a:pt x="11347" y="4005"/>
                    <a:pt x="10907" y="3577"/>
                    <a:pt x="10371" y="3577"/>
                  </a:cubicBezTo>
                  <a:lnTo>
                    <a:pt x="7621" y="3577"/>
                  </a:lnTo>
                  <a:lnTo>
                    <a:pt x="7621" y="1827"/>
                  </a:lnTo>
                  <a:cubicBezTo>
                    <a:pt x="7621" y="1112"/>
                    <a:pt x="7418" y="588"/>
                    <a:pt x="7013" y="291"/>
                  </a:cubicBezTo>
                  <a:cubicBezTo>
                    <a:pt x="6703" y="61"/>
                    <a:pt x="6332" y="0"/>
                    <a:pt x="60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70;p52">
              <a:extLst>
                <a:ext uri="{FF2B5EF4-FFF2-40B4-BE49-F238E27FC236}">
                  <a16:creationId xmlns:a16="http://schemas.microsoft.com/office/drawing/2014/main" id="{E78C51C4-0451-503F-06C3-B522C91F3693}"/>
                </a:ext>
              </a:extLst>
            </p:cNvPr>
            <p:cNvSpPr/>
            <p:nvPr/>
          </p:nvSpPr>
          <p:spPr>
            <a:xfrm>
              <a:off x="6920842" y="2577064"/>
              <a:ext cx="36709" cy="36677"/>
            </a:xfrm>
            <a:custGeom>
              <a:avLst/>
              <a:gdLst/>
              <a:ahLst/>
              <a:cxnLst/>
              <a:rect l="l" t="t" r="r" b="b"/>
              <a:pathLst>
                <a:path w="1156" h="1155" extrusionOk="0">
                  <a:moveTo>
                    <a:pt x="584" y="369"/>
                  </a:moveTo>
                  <a:cubicBezTo>
                    <a:pt x="703" y="369"/>
                    <a:pt x="787" y="464"/>
                    <a:pt x="787" y="584"/>
                  </a:cubicBezTo>
                  <a:cubicBezTo>
                    <a:pt x="787" y="703"/>
                    <a:pt x="703" y="786"/>
                    <a:pt x="584" y="786"/>
                  </a:cubicBezTo>
                  <a:cubicBezTo>
                    <a:pt x="465" y="786"/>
                    <a:pt x="370" y="703"/>
                    <a:pt x="370" y="584"/>
                  </a:cubicBezTo>
                  <a:cubicBezTo>
                    <a:pt x="370" y="464"/>
                    <a:pt x="453" y="369"/>
                    <a:pt x="584" y="369"/>
                  </a:cubicBezTo>
                  <a:close/>
                  <a:moveTo>
                    <a:pt x="584" y="0"/>
                  </a:moveTo>
                  <a:cubicBezTo>
                    <a:pt x="263" y="0"/>
                    <a:pt x="1" y="250"/>
                    <a:pt x="1" y="584"/>
                  </a:cubicBezTo>
                  <a:cubicBezTo>
                    <a:pt x="1" y="905"/>
                    <a:pt x="251" y="1155"/>
                    <a:pt x="584" y="1155"/>
                  </a:cubicBezTo>
                  <a:cubicBezTo>
                    <a:pt x="906" y="1155"/>
                    <a:pt x="1156" y="905"/>
                    <a:pt x="1156" y="584"/>
                  </a:cubicBezTo>
                  <a:cubicBezTo>
                    <a:pt x="1156" y="250"/>
                    <a:pt x="894" y="0"/>
                    <a:pt x="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C853D26B-47EC-C10B-1A4F-1BB75CD0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>
            <a:extLst>
              <a:ext uri="{FF2B5EF4-FFF2-40B4-BE49-F238E27FC236}">
                <a16:creationId xmlns:a16="http://schemas.microsoft.com/office/drawing/2014/main" id="{E337FDBA-9C6D-7BBB-2074-B9EFC392BE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Répartition des tâches</a:t>
            </a:r>
            <a:endParaRPr dirty="0"/>
          </a:p>
        </p:txBody>
      </p:sp>
      <p:sp>
        <p:nvSpPr>
          <p:cNvPr id="189" name="Google Shape;189;p29">
            <a:extLst>
              <a:ext uri="{FF2B5EF4-FFF2-40B4-BE49-F238E27FC236}">
                <a16:creationId xmlns:a16="http://schemas.microsoft.com/office/drawing/2014/main" id="{18AB3CFB-4632-20FC-EB5E-BDEE6512423B}"/>
              </a:ext>
            </a:extLst>
          </p:cNvPr>
          <p:cNvSpPr/>
          <p:nvPr/>
        </p:nvSpPr>
        <p:spPr>
          <a:xfrm>
            <a:off x="680984" y="1830088"/>
            <a:ext cx="137190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Othman</a:t>
            </a:r>
            <a:endParaRPr sz="11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9">
            <a:extLst>
              <a:ext uri="{FF2B5EF4-FFF2-40B4-BE49-F238E27FC236}">
                <a16:creationId xmlns:a16="http://schemas.microsoft.com/office/drawing/2014/main" id="{ECEE4551-002D-B9F2-32A2-3D53B12CAD4E}"/>
              </a:ext>
            </a:extLst>
          </p:cNvPr>
          <p:cNvSpPr txBox="1"/>
          <p:nvPr/>
        </p:nvSpPr>
        <p:spPr>
          <a:xfrm>
            <a:off x="341850" y="2367138"/>
            <a:ext cx="2376752" cy="21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ALU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Shift, add, sub, mov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Chemin des données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9">
            <a:extLst>
              <a:ext uri="{FF2B5EF4-FFF2-40B4-BE49-F238E27FC236}">
                <a16:creationId xmlns:a16="http://schemas.microsoft.com/office/drawing/2014/main" id="{2FF1F0DC-3B3E-2430-CEA9-CF6843786174}"/>
              </a:ext>
            </a:extLst>
          </p:cNvPr>
          <p:cNvSpPr/>
          <p:nvPr/>
        </p:nvSpPr>
        <p:spPr>
          <a:xfrm>
            <a:off x="0" y="4801425"/>
            <a:ext cx="9144000" cy="34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92" name="Google Shape;192;p29">
            <a:extLst>
              <a:ext uri="{FF2B5EF4-FFF2-40B4-BE49-F238E27FC236}">
                <a16:creationId xmlns:a16="http://schemas.microsoft.com/office/drawing/2014/main" id="{359DD5E6-4A5C-6B78-7BDD-D87F15B5B2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066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>
            <a:extLst>
              <a:ext uri="{FF2B5EF4-FFF2-40B4-BE49-F238E27FC236}">
                <a16:creationId xmlns:a16="http://schemas.microsoft.com/office/drawing/2014/main" id="{0C2DC45E-5F05-0D32-2989-3288636F1FA9}"/>
              </a:ext>
            </a:extLst>
          </p:cNvPr>
          <p:cNvSpPr/>
          <p:nvPr/>
        </p:nvSpPr>
        <p:spPr>
          <a:xfrm>
            <a:off x="2481992" y="1840817"/>
            <a:ext cx="170445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Eliot</a:t>
            </a:r>
            <a:endParaRPr sz="11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9">
            <a:extLst>
              <a:ext uri="{FF2B5EF4-FFF2-40B4-BE49-F238E27FC236}">
                <a16:creationId xmlns:a16="http://schemas.microsoft.com/office/drawing/2014/main" id="{2A7B966A-64A0-78F8-01DE-0D94BC4C925E}"/>
              </a:ext>
            </a:extLst>
          </p:cNvPr>
          <p:cNvSpPr txBox="1"/>
          <p:nvPr/>
        </p:nvSpPr>
        <p:spPr>
          <a:xfrm>
            <a:off x="2366147" y="2356409"/>
            <a:ext cx="2810871" cy="232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Flags APSR</a:t>
            </a:r>
          </a:p>
          <a:p>
            <a:pPr marL="171450" lvl="0" indent="-171450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Assembleur</a:t>
            </a:r>
          </a:p>
          <a:p>
            <a:pPr marL="171450" lvl="0" indent="-1714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Conditional</a:t>
            </a:r>
            <a:endParaRPr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9">
            <a:extLst>
              <a:ext uri="{FF2B5EF4-FFF2-40B4-BE49-F238E27FC236}">
                <a16:creationId xmlns:a16="http://schemas.microsoft.com/office/drawing/2014/main" id="{5524801C-A86A-9B06-75F3-EA8E9039B71C}"/>
              </a:ext>
            </a:extLst>
          </p:cNvPr>
          <p:cNvSpPr/>
          <p:nvPr/>
        </p:nvSpPr>
        <p:spPr>
          <a:xfrm>
            <a:off x="4745883" y="1830088"/>
            <a:ext cx="170445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Samy</a:t>
            </a:r>
          </a:p>
        </p:txBody>
      </p:sp>
      <p:sp>
        <p:nvSpPr>
          <p:cNvPr id="196" name="Google Shape;196;p29">
            <a:extLst>
              <a:ext uri="{FF2B5EF4-FFF2-40B4-BE49-F238E27FC236}">
                <a16:creationId xmlns:a16="http://schemas.microsoft.com/office/drawing/2014/main" id="{87C511E9-BB0B-7719-58F2-77DA42683B10}"/>
              </a:ext>
            </a:extLst>
          </p:cNvPr>
          <p:cNvSpPr txBox="1"/>
          <p:nvPr/>
        </p:nvSpPr>
        <p:spPr>
          <a:xfrm>
            <a:off x="4745883" y="2360839"/>
            <a:ext cx="1982722" cy="110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Data </a:t>
            </a: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Processing</a:t>
            </a:r>
            <a:endParaRPr lang="fr-FR"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SP </a:t>
            </a: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Address</a:t>
            </a:r>
            <a:endParaRPr lang="fr-FR"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Tableau de synthèse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195;p29">
            <a:extLst>
              <a:ext uri="{FF2B5EF4-FFF2-40B4-BE49-F238E27FC236}">
                <a16:creationId xmlns:a16="http://schemas.microsoft.com/office/drawing/2014/main" id="{79864CF6-27DD-AD1E-FFAA-669FD0BB8B3C}"/>
              </a:ext>
            </a:extLst>
          </p:cNvPr>
          <p:cNvSpPr/>
          <p:nvPr/>
        </p:nvSpPr>
        <p:spPr>
          <a:xfrm>
            <a:off x="6988196" y="1840817"/>
            <a:ext cx="1704450" cy="4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</a:rPr>
              <a:t>Ezedine</a:t>
            </a:r>
          </a:p>
        </p:txBody>
      </p:sp>
      <p:sp>
        <p:nvSpPr>
          <p:cNvPr id="3" name="Google Shape;196;p29">
            <a:extLst>
              <a:ext uri="{FF2B5EF4-FFF2-40B4-BE49-F238E27FC236}">
                <a16:creationId xmlns:a16="http://schemas.microsoft.com/office/drawing/2014/main" id="{F715E374-0A3A-C804-2F00-1A90088ED24F}"/>
              </a:ext>
            </a:extLst>
          </p:cNvPr>
          <p:cNvSpPr txBox="1"/>
          <p:nvPr/>
        </p:nvSpPr>
        <p:spPr>
          <a:xfrm>
            <a:off x="6988196" y="2360838"/>
            <a:ext cx="1982722" cy="110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Banc de Registres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Load</a:t>
            </a: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Store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Décodeur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4086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Fonctionnement global (de bout en bout)</a:t>
            </a:r>
            <a:endParaRPr lang="fr-FR" dirty="0"/>
          </a:p>
        </p:txBody>
      </p:sp>
      <p:sp>
        <p:nvSpPr>
          <p:cNvPr id="287" name="Google Shape;287;p35"/>
          <p:cNvSpPr txBox="1">
            <a:spLocks noGrp="1"/>
          </p:cNvSpPr>
          <p:nvPr>
            <p:ph type="subTitle" idx="2"/>
          </p:nvPr>
        </p:nvSpPr>
        <p:spPr>
          <a:xfrm>
            <a:off x="454936" y="1950313"/>
            <a:ext cx="5726442" cy="1131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Fichier assembleur </a:t>
            </a:r>
            <a:r>
              <a:rPr lang="fr-FR" dirty="0"/>
              <a:t>.s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Assembleur</a:t>
            </a:r>
            <a:r>
              <a:rPr lang="fr-FR" dirty="0"/>
              <a:t> (parseur + encodeur) → génère ROM </a:t>
            </a:r>
            <a:r>
              <a:rPr lang="fr-FR" dirty="0" err="1"/>
              <a:t>Logisim</a:t>
            </a:r>
            <a:r>
              <a:rPr lang="fr-FR" dirty="0"/>
              <a:t> .</a:t>
            </a:r>
            <a:r>
              <a:rPr lang="fr-FR" dirty="0" err="1"/>
              <a:t>hex</a:t>
            </a:r>
            <a:endParaRPr lang="fr-F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Chargement ROM </a:t>
            </a:r>
            <a:r>
              <a:rPr lang="fr-FR" dirty="0"/>
              <a:t>dans </a:t>
            </a:r>
            <a:r>
              <a:rPr lang="fr-FR" dirty="0" err="1"/>
              <a:t>Logisim</a:t>
            </a:r>
            <a:endParaRPr lang="fr-F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CPU exécute </a:t>
            </a:r>
            <a:r>
              <a:rPr lang="fr-FR" dirty="0"/>
              <a:t>→ lit/écrit </a:t>
            </a:r>
            <a:r>
              <a:rPr lang="fr-FR" b="1" dirty="0"/>
              <a:t>RAM</a:t>
            </a:r>
            <a:r>
              <a:rPr lang="fr-FR" dirty="0"/>
              <a:t> → met à jour registres + </a:t>
            </a:r>
            <a:r>
              <a:rPr lang="fr-FR" b="1" dirty="0"/>
              <a:t>flags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Résultat observable </a:t>
            </a:r>
            <a:r>
              <a:rPr lang="fr-FR" dirty="0"/>
              <a:t>: registres / mémoire / flags / PC</a:t>
            </a:r>
            <a:endParaRPr dirty="0"/>
          </a:p>
        </p:txBody>
      </p:sp>
      <p:sp>
        <p:nvSpPr>
          <p:cNvPr id="290" name="Google Shape;290;p35"/>
          <p:cNvSpPr txBox="1">
            <a:spLocks noGrp="1"/>
          </p:cNvSpPr>
          <p:nvPr>
            <p:ph type="title" idx="4"/>
          </p:nvPr>
        </p:nvSpPr>
        <p:spPr>
          <a:xfrm>
            <a:off x="341850" y="1486821"/>
            <a:ext cx="3796037" cy="412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Code → binaire → exécution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7F7CC-16F7-0772-15C9-889B2756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3461681"/>
            <a:ext cx="5119652" cy="9548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29DCC1-7F42-8756-58D0-4F9C6AE9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792" y="3132839"/>
            <a:ext cx="3168886" cy="843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EF0C759D-D405-5DB0-1B23-4E19D11D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>
            <a:extLst>
              <a:ext uri="{FF2B5EF4-FFF2-40B4-BE49-F238E27FC236}">
                <a16:creationId xmlns:a16="http://schemas.microsoft.com/office/drawing/2014/main" id="{170E08E6-33DF-1372-6701-E5C0ACD72A26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Tableau jeu d’instructions</a:t>
            </a:r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0DD89F3E-0DEB-8B58-E35D-0597186C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2C78F2-D108-75B5-8D62-643A891F1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27" t="8670" r="11349" b="9052"/>
          <a:stretch>
            <a:fillRect/>
          </a:stretch>
        </p:blipFill>
        <p:spPr>
          <a:xfrm>
            <a:off x="2521069" y="1257500"/>
            <a:ext cx="4101861" cy="338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3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Architecture CPU (</a:t>
            </a:r>
            <a:r>
              <a:rPr lang="fr-FR" dirty="0" err="1"/>
              <a:t>datapath</a:t>
            </a:r>
            <a:r>
              <a:rPr lang="fr-FR" dirty="0"/>
              <a:t>)</a:t>
            </a:r>
            <a:endParaRPr dirty="0"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233384" y="3679861"/>
            <a:ext cx="7552870" cy="3185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Compteur d’instructions </a:t>
            </a:r>
            <a:r>
              <a:rPr lang="fr-FR" dirty="0"/>
              <a:t>: fournit l’adresse de la prochaine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Mémoire programme (ROM) </a:t>
            </a:r>
            <a:r>
              <a:rPr lang="fr-FR" dirty="0"/>
              <a:t>: renvoie l’instruction courante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Décodage / contrôle </a:t>
            </a:r>
            <a:r>
              <a:rPr lang="fr-FR" dirty="0"/>
              <a:t>: choisit les chemins et active les écritures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Banc de registres + ALU </a:t>
            </a:r>
            <a:r>
              <a:rPr lang="fr-FR" dirty="0"/>
              <a:t>: calcule le résultat et met à jour les indicateurs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/>
              <a:t>Interface mémoire (RAM) </a:t>
            </a:r>
            <a:r>
              <a:rPr lang="fr-FR" dirty="0"/>
              <a:t>: utilisée uniquement pour charger / stocker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A8A800-ABDE-C411-D061-632623FAE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99407"/>
              </p:ext>
            </p:extLst>
          </p:nvPr>
        </p:nvGraphicFramePr>
        <p:xfrm>
          <a:off x="5357781" y="881072"/>
          <a:ext cx="3398187" cy="1587458"/>
        </p:xfrm>
        <a:graphic>
          <a:graphicData uri="http://schemas.openxmlformats.org/drawingml/2006/table">
            <a:tbl>
              <a:tblPr/>
              <a:tblGrid>
                <a:gridCol w="1132729">
                  <a:extLst>
                    <a:ext uri="{9D8B030D-6E8A-4147-A177-3AD203B41FA5}">
                      <a16:colId xmlns:a16="http://schemas.microsoft.com/office/drawing/2014/main" val="2007413439"/>
                    </a:ext>
                  </a:extLst>
                </a:gridCol>
                <a:gridCol w="1132729">
                  <a:extLst>
                    <a:ext uri="{9D8B030D-6E8A-4147-A177-3AD203B41FA5}">
                      <a16:colId xmlns:a16="http://schemas.microsoft.com/office/drawing/2014/main" val="815537980"/>
                    </a:ext>
                  </a:extLst>
                </a:gridCol>
                <a:gridCol w="1132729">
                  <a:extLst>
                    <a:ext uri="{9D8B030D-6E8A-4147-A177-3AD203B41FA5}">
                      <a16:colId xmlns:a16="http://schemas.microsoft.com/office/drawing/2014/main" val="4195817921"/>
                    </a:ext>
                  </a:extLst>
                </a:gridCol>
              </a:tblGrid>
              <a:tr h="229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Entrées / Sorties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À quoi ça 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712884"/>
                  </a:ext>
                </a:extLst>
              </a:tr>
              <a:tr h="390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ROM</a:t>
                      </a:r>
                      <a:endParaRPr lang="fr-F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adresse → instruction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lire le programme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33970"/>
                  </a:ext>
                </a:extLst>
              </a:tr>
              <a:tr h="551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/>
                        <a:t>RAM</a:t>
                      </a:r>
                      <a:endParaRPr lang="fr-F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adresse + données + write 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lire/écrire données (load/store)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804629"/>
                  </a:ext>
                </a:extLst>
              </a:tr>
              <a:tr h="390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Clock/Reset</a:t>
                      </a:r>
                      <a:endParaRPr lang="fr-F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horloge / remise à zéro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cadence + init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225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F157C99-48DE-C0D1-14FA-53E15A80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66" y="2565272"/>
            <a:ext cx="2589330" cy="996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DC4A8-BDC7-601F-1C4D-298AB15F5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904" y="1770861"/>
            <a:ext cx="2011654" cy="676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9828A-72E3-6ACF-48CE-08F4882E8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433" y="1295442"/>
            <a:ext cx="1726624" cy="2346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/>
              <a:t>ISA supportée (</a:t>
            </a:r>
            <a:r>
              <a:rPr lang="fr-FR" sz="2800" dirty="0" err="1"/>
              <a:t>Thumb</a:t>
            </a:r>
            <a:r>
              <a:rPr lang="fr-FR" sz="2800" dirty="0"/>
              <a:t> 16 bits) - ce que notre CPU exécute</a:t>
            </a:r>
            <a:endParaRPr sz="2800" b="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46A8F2-55F7-8B2C-44C6-451A7F4B4D51}"/>
              </a:ext>
            </a:extLst>
          </p:cNvPr>
          <p:cNvSpPr/>
          <p:nvPr/>
        </p:nvSpPr>
        <p:spPr>
          <a:xfrm>
            <a:off x="942109" y="1662545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Déplacements &amp; </a:t>
            </a:r>
            <a:r>
              <a:rPr lang="fr-FR" dirty="0" err="1"/>
              <a:t>arithmétiqueMOV</a:t>
            </a:r>
            <a:r>
              <a:rPr lang="fr-FR" dirty="0"/>
              <a:t> (</a:t>
            </a:r>
            <a:r>
              <a:rPr lang="fr-FR" dirty="0" err="1"/>
              <a:t>imm</a:t>
            </a:r>
            <a:r>
              <a:rPr lang="fr-FR" dirty="0"/>
              <a:t>)ADD / </a:t>
            </a:r>
            <a:r>
              <a:rPr lang="fr-FR" dirty="0" err="1"/>
              <a:t>SUBShift</a:t>
            </a:r>
            <a:r>
              <a:rPr lang="fr-FR" dirty="0"/>
              <a:t> (LSL/LSR/ASR)CMP (selon </a:t>
            </a:r>
            <a:r>
              <a:rPr lang="fr-FR" dirty="0" err="1"/>
              <a:t>impl</a:t>
            </a:r>
            <a:r>
              <a:rPr lang="fr-FR" dirty="0"/>
              <a:t>.)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6E6131F-E64D-BC7B-EA24-54C3E10E7C4A}"/>
              </a:ext>
            </a:extLst>
          </p:cNvPr>
          <p:cNvSpPr/>
          <p:nvPr/>
        </p:nvSpPr>
        <p:spPr>
          <a:xfrm>
            <a:off x="942108" y="3209634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Mémoire (pile)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LDR (SP + </a:t>
            </a:r>
            <a:r>
              <a:rPr lang="fr-FR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imm</a:t>
            </a:r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STR (SP + </a:t>
            </a:r>
            <a:r>
              <a:rPr lang="fr-FR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imm</a:t>
            </a:r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Adresse = SP + offset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2 cycles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7EE4F51-5B24-6265-65BE-408BA1B5616A}"/>
              </a:ext>
            </a:extLst>
          </p:cNvPr>
          <p:cNvSpPr/>
          <p:nvPr/>
        </p:nvSpPr>
        <p:spPr>
          <a:xfrm>
            <a:off x="4632036" y="3209635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0D3980-558D-741C-8F25-EBD5099F724A}"/>
              </a:ext>
            </a:extLst>
          </p:cNvPr>
          <p:cNvSpPr/>
          <p:nvPr/>
        </p:nvSpPr>
        <p:spPr>
          <a:xfrm>
            <a:off x="4632035" y="1662544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09D3737-9D61-CF51-F440-9F167C64F227}"/>
              </a:ext>
            </a:extLst>
          </p:cNvPr>
          <p:cNvSpPr/>
          <p:nvPr/>
        </p:nvSpPr>
        <p:spPr>
          <a:xfrm>
            <a:off x="942108" y="1662544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Déplacements &amp; arithmétique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 (</a:t>
            </a:r>
            <a:r>
              <a:rPr lang="fr-FR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imm</a:t>
            </a:r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ADD / SUB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Shift (LSL/LSR/ASR)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CMP (selon </a:t>
            </a:r>
            <a:r>
              <a:rPr lang="fr-FR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impl</a:t>
            </a:r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.)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4F1D4EF-100A-4537-4D7A-52E2C8EF490D}"/>
              </a:ext>
            </a:extLst>
          </p:cNvPr>
          <p:cNvSpPr/>
          <p:nvPr/>
        </p:nvSpPr>
        <p:spPr>
          <a:xfrm>
            <a:off x="4632035" y="3209634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Branchements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 conditionnel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offset signé (</a:t>
            </a:r>
            <a:r>
              <a:rPr lang="fr-FR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imm</a:t>
            </a:r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dépend des indicateurs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pas de BL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7AB7ACF-3EC4-CEB2-C518-EC8B67CAE516}"/>
              </a:ext>
            </a:extLst>
          </p:cNvPr>
          <p:cNvSpPr/>
          <p:nvPr/>
        </p:nvSpPr>
        <p:spPr>
          <a:xfrm>
            <a:off x="4632034" y="1662543"/>
            <a:ext cx="3537527" cy="1394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Traitement logique/ALU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AND / ORR / EOR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ADC / SBC</a:t>
            </a:r>
          </a:p>
          <a:p>
            <a:pPr algn="ctr"/>
            <a:r>
              <a:rPr lang="fr-FR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TST / CMN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>
                <a:hlinkClick r:id="rId3" action="ppaction://hlinkfile"/>
              </a:rPr>
              <a:t>Assembleur / Parseur</a:t>
            </a:r>
            <a:endParaRPr dirty="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681375" y="142355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273D40"/>
              </a:buClr>
              <a:buSzPts val="600"/>
              <a:buNone/>
            </a:pPr>
            <a:r>
              <a:rPr lang="fr-FR" dirty="0"/>
              <a:t>Transformer un programme assembleur en fichier ROM compatible </a:t>
            </a:r>
            <a:r>
              <a:rPr lang="fr-FR" dirty="0" err="1"/>
              <a:t>Logisim</a:t>
            </a:r>
            <a:r>
              <a:rPr lang="fr-FR" dirty="0"/>
              <a:t> pour exécuter sur notre CPU.</a:t>
            </a:r>
          </a:p>
          <a:p>
            <a:pPr marL="0" lvl="0" indent="0">
              <a:buClr>
                <a:srgbClr val="273D40"/>
              </a:buClr>
              <a:buSzPts val="600"/>
              <a:buNone/>
            </a:pPr>
            <a:endParaRPr lang="fr-FR" dirty="0"/>
          </a:p>
          <a:p>
            <a:r>
              <a:rPr lang="fr-FR" dirty="0"/>
              <a:t>Entrée : fichier .s (code assembleur)</a:t>
            </a:r>
          </a:p>
          <a:p>
            <a:r>
              <a:rPr lang="fr-FR" dirty="0"/>
              <a:t>Analyse : lecture ligne par ligne, découpage en </a:t>
            </a:r>
            <a:r>
              <a:rPr lang="fr-FR" dirty="0" err="1"/>
              <a:t>tokens</a:t>
            </a:r>
            <a:r>
              <a:rPr lang="fr-FR" dirty="0"/>
              <a:t>, gestion labels</a:t>
            </a:r>
          </a:p>
          <a:p>
            <a:r>
              <a:rPr lang="fr-FR" dirty="0"/>
              <a:t>Encodage : conversion en instructions 16 bits (et gestion des erreurs)</a:t>
            </a:r>
          </a:p>
          <a:p>
            <a:r>
              <a:rPr lang="fr-FR" dirty="0"/>
              <a:t>Sortie : fichier .</a:t>
            </a:r>
            <a:r>
              <a:rPr lang="fr-FR" dirty="0" err="1"/>
              <a:t>hex</a:t>
            </a:r>
            <a:r>
              <a:rPr lang="fr-FR" dirty="0"/>
              <a:t> </a:t>
            </a:r>
            <a:r>
              <a:rPr lang="fr-FR" dirty="0" err="1"/>
              <a:t>Logisim</a:t>
            </a:r>
            <a:endParaRPr lang="fr-FR" dirty="0"/>
          </a:p>
          <a:p>
            <a:pPr marL="0" lvl="0" indent="0">
              <a:buClr>
                <a:srgbClr val="273D40"/>
              </a:buClr>
              <a:buSzPts val="600"/>
              <a:buNone/>
            </a:pPr>
            <a:endParaRPr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B570875-A4C8-1D88-0204-82A4C3AC787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5"/>
          <a:srcRect l="187" r="187"/>
          <a:stretch/>
        </p:blipFill>
        <p:spPr>
          <a:prstGeom prst="rect">
            <a:avLst/>
          </a:prstGeom>
          <a:noFill/>
          <a:ln w="9525" cap="flat" cmpd="sng">
            <a:solidFill>
              <a:srgbClr val="70707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ALU + Indicateurs (NZCV)</a:t>
            </a:r>
            <a:endParaRPr dirty="0"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1"/>
          </p:nvPr>
        </p:nvSpPr>
        <p:spPr>
          <a:xfrm>
            <a:off x="1338122" y="1576805"/>
            <a:ext cx="6688278" cy="60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L’ALU fait les calculs (arithmétique, logique, décalages) et met à jour les indicateurs.</a:t>
            </a:r>
          </a:p>
          <a:p>
            <a:pPr marL="0" lvl="0" indent="0"/>
            <a:endParaRPr lang="fr-FR" dirty="0"/>
          </a:p>
          <a:p>
            <a:pPr marL="0" lvl="0" indent="0"/>
            <a:endParaRPr dirty="0"/>
          </a:p>
        </p:txBody>
      </p:sp>
      <p:sp>
        <p:nvSpPr>
          <p:cNvPr id="2" name="Google Shape;271;p33">
            <a:extLst>
              <a:ext uri="{FF2B5EF4-FFF2-40B4-BE49-F238E27FC236}">
                <a16:creationId xmlns:a16="http://schemas.microsoft.com/office/drawing/2014/main" id="{B5EFA36F-1575-04DF-E09D-2D35FDA5DA60}"/>
              </a:ext>
            </a:extLst>
          </p:cNvPr>
          <p:cNvSpPr txBox="1">
            <a:spLocks/>
          </p:cNvSpPr>
          <p:nvPr/>
        </p:nvSpPr>
        <p:spPr>
          <a:xfrm>
            <a:off x="455474" y="2642203"/>
            <a:ext cx="4226787" cy="121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fr-FR" sz="1800" b="1" dirty="0"/>
              <a:t>Entrées : </a:t>
            </a:r>
          </a:p>
          <a:p>
            <a:r>
              <a:rPr lang="fr-FR" b="1" dirty="0"/>
              <a:t>A (32 bits)</a:t>
            </a:r>
            <a:r>
              <a:rPr lang="fr-FR" dirty="0"/>
              <a:t> : valeur venant d’un registre</a:t>
            </a:r>
          </a:p>
          <a:p>
            <a:r>
              <a:rPr lang="fr-FR" b="1" dirty="0"/>
              <a:t>B (32 bits)</a:t>
            </a:r>
            <a:r>
              <a:rPr lang="fr-FR" dirty="0"/>
              <a:t> : valeur venant d’un registre / immédiat</a:t>
            </a:r>
          </a:p>
          <a:p>
            <a:r>
              <a:rPr lang="fr-FR" b="1" dirty="0"/>
              <a:t>Paramètres</a:t>
            </a:r>
            <a:r>
              <a:rPr lang="fr-FR" dirty="0"/>
              <a:t> : type d’opération + décalage + retenue (si besoin)</a:t>
            </a:r>
          </a:p>
          <a:p>
            <a:pPr marL="0" indent="0"/>
            <a:endParaRPr lang="fr-FR" dirty="0"/>
          </a:p>
          <a:p>
            <a:pPr marL="0" indent="0"/>
            <a:endParaRPr lang="fr-FR" dirty="0"/>
          </a:p>
        </p:txBody>
      </p:sp>
      <p:sp>
        <p:nvSpPr>
          <p:cNvPr id="3" name="Google Shape;271;p33">
            <a:extLst>
              <a:ext uri="{FF2B5EF4-FFF2-40B4-BE49-F238E27FC236}">
                <a16:creationId xmlns:a16="http://schemas.microsoft.com/office/drawing/2014/main" id="{D32F9B50-898D-C48C-F30D-98CF679DFC2C}"/>
              </a:ext>
            </a:extLst>
          </p:cNvPr>
          <p:cNvSpPr txBox="1">
            <a:spLocks/>
          </p:cNvSpPr>
          <p:nvPr/>
        </p:nvSpPr>
        <p:spPr>
          <a:xfrm>
            <a:off x="5111631" y="2743501"/>
            <a:ext cx="6591296" cy="121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fr-FR" sz="1800" b="1" dirty="0"/>
              <a:t>Sorties : </a:t>
            </a:r>
          </a:p>
          <a:p>
            <a:r>
              <a:rPr lang="fr-FR" b="1" dirty="0"/>
              <a:t>Résultat (32 bits)</a:t>
            </a:r>
            <a:endParaRPr lang="fr-FR" dirty="0"/>
          </a:p>
          <a:p>
            <a:r>
              <a:rPr lang="fr-FR" b="1" dirty="0"/>
              <a:t>Indicateurs NZCV</a:t>
            </a:r>
            <a:endParaRPr lang="fr-FR" dirty="0"/>
          </a:p>
          <a:p>
            <a:pPr lvl="1"/>
            <a:r>
              <a:rPr lang="fr-FR" b="1" dirty="0"/>
              <a:t>N</a:t>
            </a:r>
            <a:r>
              <a:rPr lang="fr-FR" dirty="0"/>
              <a:t> : résultat négatif</a:t>
            </a:r>
          </a:p>
          <a:p>
            <a:pPr lvl="1"/>
            <a:r>
              <a:rPr lang="fr-FR" b="1" dirty="0"/>
              <a:t>Z</a:t>
            </a:r>
            <a:r>
              <a:rPr lang="fr-FR" dirty="0"/>
              <a:t> : résultat = 0</a:t>
            </a:r>
          </a:p>
          <a:p>
            <a:pPr lvl="1"/>
            <a:r>
              <a:rPr lang="fr-FR" b="1" dirty="0"/>
              <a:t>C</a:t>
            </a:r>
            <a:r>
              <a:rPr lang="fr-FR" dirty="0"/>
              <a:t> : retenue (carry)</a:t>
            </a:r>
          </a:p>
          <a:p>
            <a:pPr lvl="1"/>
            <a:r>
              <a:rPr lang="fr-FR" b="1" dirty="0"/>
              <a:t>V</a:t>
            </a:r>
            <a:r>
              <a:rPr lang="fr-FR" dirty="0"/>
              <a:t> : dépassement (</a:t>
            </a:r>
            <a:r>
              <a:rPr lang="fr-FR" dirty="0" err="1"/>
              <a:t>overflow</a:t>
            </a:r>
            <a:r>
              <a:rPr lang="fr-FR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6E153DFB-7C9B-6399-C5B8-FFC8DF38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>
            <a:extLst>
              <a:ext uri="{FF2B5EF4-FFF2-40B4-BE49-F238E27FC236}">
                <a16:creationId xmlns:a16="http://schemas.microsoft.com/office/drawing/2014/main" id="{B8D29AF6-4B8C-EC0E-EBA1-6CC119CC12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ALU + Indicateurs (NZCV)</a:t>
            </a:r>
            <a:endParaRPr dirty="0"/>
          </a:p>
        </p:txBody>
      </p:sp>
      <p:sp>
        <p:nvSpPr>
          <p:cNvPr id="271" name="Google Shape;271;p33">
            <a:extLst>
              <a:ext uri="{FF2B5EF4-FFF2-40B4-BE49-F238E27FC236}">
                <a16:creationId xmlns:a16="http://schemas.microsoft.com/office/drawing/2014/main" id="{E27ADB4C-38BF-9E7A-D013-D3EAF7D729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8122" y="1576805"/>
            <a:ext cx="6688278" cy="60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L’ALU fait les calculs (arithmétique, logique, décalages) et met à jour les indicateurs.</a:t>
            </a:r>
          </a:p>
          <a:p>
            <a:pPr marL="0" lvl="0" indent="0"/>
            <a:endParaRPr lang="fr-FR" dirty="0"/>
          </a:p>
          <a:p>
            <a:pPr marL="0" lvl="0" indent="0"/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44B4B9-9BEE-0169-ABB4-B9AC45EB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00" y="2607545"/>
            <a:ext cx="1810179" cy="17412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898245-98F4-C3C7-53EC-EDAB14054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70900"/>
            <a:ext cx="3188245" cy="2571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27D20A-2BBF-D170-C8E6-B10592AC3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835" y="2023340"/>
            <a:ext cx="1872565" cy="10968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4F253F-5658-2567-862E-BCAC1F401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06" y="2433890"/>
            <a:ext cx="1888694" cy="184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2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Tests &amp; Taux de couverture</a:t>
            </a:r>
            <a:endParaRPr dirty="0"/>
          </a:p>
        </p:txBody>
      </p:sp>
      <p:sp>
        <p:nvSpPr>
          <p:cNvPr id="350" name="Google Shape;350;p39"/>
          <p:cNvSpPr txBox="1"/>
          <p:nvPr/>
        </p:nvSpPr>
        <p:spPr>
          <a:xfrm>
            <a:off x="951637" y="1507573"/>
            <a:ext cx="2078077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Tests unitaires :</a:t>
            </a:r>
            <a:endParaRPr sz="2000" dirty="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951637" y="2903310"/>
            <a:ext cx="2741015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Tests d’intégration CPU :</a:t>
            </a:r>
            <a:endParaRPr sz="2000" dirty="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9F8AA-707B-AA9E-26CF-4661FF240D17}"/>
              </a:ext>
            </a:extLst>
          </p:cNvPr>
          <p:cNvSpPr txBox="1"/>
          <p:nvPr/>
        </p:nvSpPr>
        <p:spPr>
          <a:xfrm>
            <a:off x="979737" y="33873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VT323" panose="020B0604020202020204" charset="0"/>
              </a:rPr>
              <a:t>91%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863B5-465A-D579-BF60-105C63A13C20}"/>
              </a:ext>
            </a:extLst>
          </p:cNvPr>
          <p:cNvSpPr txBox="1"/>
          <p:nvPr/>
        </p:nvSpPr>
        <p:spPr>
          <a:xfrm>
            <a:off x="979737" y="2004108"/>
            <a:ext cx="2914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VT323" panose="020B0604020202020204" charset="0"/>
              </a:rPr>
              <a:t>98,9%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D77EEB-6AFD-39B3-D2EF-061FABB6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13" y="803844"/>
            <a:ext cx="4147820" cy="3915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2" title="beautiful-sea-life-with-aquatic-animal (1)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0933" r="20933"/>
          <a:stretch/>
        </p:blipFill>
        <p:spPr>
          <a:xfrm flipH="1">
            <a:off x="6386650" y="947025"/>
            <a:ext cx="2107500" cy="2067599"/>
          </a:xfrm>
          <a:prstGeom prst="rect">
            <a:avLst/>
          </a:prstGeom>
        </p:spPr>
      </p:pic>
      <p:sp>
        <p:nvSpPr>
          <p:cNvPr id="260" name="Google Shape;260;p32"/>
          <p:cNvSpPr txBox="1">
            <a:spLocks noGrp="1"/>
          </p:cNvSpPr>
          <p:nvPr>
            <p:ph type="subTitle" idx="1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4" action="ppaction://hlinkfile"/>
              </a:rPr>
              <a:t>DEMO</a:t>
            </a:r>
            <a:endParaRPr dirty="0"/>
          </a:p>
        </p:txBody>
      </p:sp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649850" y="1661809"/>
            <a:ext cx="4765964" cy="15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Test fonctionnel final (démo) + Conclusion</a:t>
            </a:r>
            <a:endParaRPr dirty="0"/>
          </a:p>
        </p:txBody>
      </p:sp>
      <p:grpSp>
        <p:nvGrpSpPr>
          <p:cNvPr id="263" name="Google Shape;263;p32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264" name="Google Shape;264;p32" title="Sin título-2.png"/>
            <p:cNvPicPr preferRelativeResize="0"/>
            <p:nvPr/>
          </p:nvPicPr>
          <p:blipFill rotWithShape="1">
            <a:blip r:embed="rId5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2" title="Sin título-2.png"/>
            <p:cNvPicPr preferRelativeResize="0"/>
            <p:nvPr/>
          </p:nvPicPr>
          <p:blipFill rotWithShape="1">
            <a:blip r:embed="rId5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E14D5BA0-B525-88CB-DB21-2DA0E7EE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>
            <a:extLst>
              <a:ext uri="{FF2B5EF4-FFF2-40B4-BE49-F238E27FC236}">
                <a16:creationId xmlns:a16="http://schemas.microsoft.com/office/drawing/2014/main" id="{5663E228-51E2-D814-4DDB-10C764A34E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Axes d’amélioration</a:t>
            </a:r>
          </a:p>
        </p:txBody>
      </p:sp>
      <p:sp>
        <p:nvSpPr>
          <p:cNvPr id="271" name="Google Shape;271;p33">
            <a:extLst>
              <a:ext uri="{FF2B5EF4-FFF2-40B4-BE49-F238E27FC236}">
                <a16:creationId xmlns:a16="http://schemas.microsoft.com/office/drawing/2014/main" id="{8C324620-FBE9-838E-8EA1-C3B726F763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8386" y="1493075"/>
            <a:ext cx="6688278" cy="60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b="1" dirty="0"/>
              <a:t>Architecture / Contrôleurs </a:t>
            </a:r>
            <a:r>
              <a:rPr lang="fr-FR" dirty="0"/>
              <a:t>: Faire dès le début une table de contrôle et un ordre d’implémentation des contrôleurs pour limiter les dépendances et les recâblages</a:t>
            </a:r>
          </a:p>
          <a:p>
            <a:pPr marL="0" lvl="0" indent="0"/>
            <a:endParaRPr lang="fr-FR" dirty="0"/>
          </a:p>
          <a:p>
            <a:pPr marL="0" lvl="0" indent="0"/>
            <a:endParaRPr lang="fr-FR" dirty="0"/>
          </a:p>
        </p:txBody>
      </p:sp>
      <p:sp>
        <p:nvSpPr>
          <p:cNvPr id="4" name="Google Shape;271;p33">
            <a:extLst>
              <a:ext uri="{FF2B5EF4-FFF2-40B4-BE49-F238E27FC236}">
                <a16:creationId xmlns:a16="http://schemas.microsoft.com/office/drawing/2014/main" id="{9D650A9D-16B6-22C2-3173-AD05CA541EF1}"/>
              </a:ext>
            </a:extLst>
          </p:cNvPr>
          <p:cNvSpPr txBox="1">
            <a:spLocks/>
          </p:cNvSpPr>
          <p:nvPr/>
        </p:nvSpPr>
        <p:spPr>
          <a:xfrm>
            <a:off x="1227861" y="2444472"/>
            <a:ext cx="6688278" cy="602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/>
            <a:r>
              <a:rPr lang="fr-FR" b="1" dirty="0"/>
              <a:t>Tests et vérification </a:t>
            </a:r>
            <a:r>
              <a:rPr lang="fr-FR" dirty="0"/>
              <a:t>: Augmenter la couverture avec une suite de non-régression (programmes courts) + tests de cas limites (flags, </a:t>
            </a:r>
            <a:r>
              <a:rPr lang="fr-FR" dirty="0" err="1"/>
              <a:t>overflow</a:t>
            </a:r>
            <a:r>
              <a:rPr lang="fr-FR" dirty="0"/>
              <a:t>, mémoire) et métriques de </a:t>
            </a:r>
            <a:r>
              <a:rPr lang="fr-FR" dirty="0" err="1"/>
              <a:t>coverage</a:t>
            </a:r>
            <a:endParaRPr lang="fr-FR" dirty="0"/>
          </a:p>
          <a:p>
            <a:pPr marL="0" indent="0"/>
            <a:endParaRPr lang="fr-FR" dirty="0"/>
          </a:p>
          <a:p>
            <a:pPr marL="0" indent="0"/>
            <a:endParaRPr lang="fr-FR" dirty="0"/>
          </a:p>
        </p:txBody>
      </p:sp>
      <p:sp>
        <p:nvSpPr>
          <p:cNvPr id="5" name="Google Shape;271;p33">
            <a:extLst>
              <a:ext uri="{FF2B5EF4-FFF2-40B4-BE49-F238E27FC236}">
                <a16:creationId xmlns:a16="http://schemas.microsoft.com/office/drawing/2014/main" id="{979D5A1B-5AA2-22F6-6D71-C5979ECE18D8}"/>
              </a:ext>
            </a:extLst>
          </p:cNvPr>
          <p:cNvSpPr txBox="1">
            <a:spLocks/>
          </p:cNvSpPr>
          <p:nvPr/>
        </p:nvSpPr>
        <p:spPr>
          <a:xfrm>
            <a:off x="1268386" y="3444359"/>
            <a:ext cx="6688278" cy="602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/>
            <a:r>
              <a:rPr lang="fr-FR" b="1" dirty="0"/>
              <a:t>Organisation de groupe </a:t>
            </a:r>
            <a:r>
              <a:rPr lang="fr-FR" dirty="0"/>
              <a:t>: Mettre en place des sprints avec livrables, revues d’intégration régulières et conventions d’interface (nom/largeurs/timing) pour sécuriser la collaboration</a:t>
            </a:r>
          </a:p>
          <a:p>
            <a:pPr marL="0" indent="0"/>
            <a:endParaRPr lang="fr-FR" dirty="0"/>
          </a:p>
          <a:p>
            <a:pPr marL="0" indent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97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72;p41">
            <a:extLst>
              <a:ext uri="{FF2B5EF4-FFF2-40B4-BE49-F238E27FC236}">
                <a16:creationId xmlns:a16="http://schemas.microsoft.com/office/drawing/2014/main" id="{19B249C8-730E-A96E-110F-F92C97D7D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0087" y="2017568"/>
            <a:ext cx="1463826" cy="11083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MERCI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Google Shape;390;p41">
            <a:extLst>
              <a:ext uri="{FF2B5EF4-FFF2-40B4-BE49-F238E27FC236}">
                <a16:creationId xmlns:a16="http://schemas.microsoft.com/office/drawing/2014/main" id="{6F719963-B74C-912D-D503-B4F38BFDB5DC}"/>
              </a:ext>
            </a:extLst>
          </p:cNvPr>
          <p:cNvSpPr txBox="1"/>
          <p:nvPr/>
        </p:nvSpPr>
        <p:spPr>
          <a:xfrm>
            <a:off x="341850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Ezedine </a:t>
            </a:r>
            <a:r>
              <a:rPr lang="fr-FR" sz="1600" dirty="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/ Samy / Othman / Eliot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1269</Words>
  <Application>Microsoft Office PowerPoint</Application>
  <PresentationFormat>On-screen Show (16:9)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Raleway</vt:lpstr>
      <vt:lpstr>VT323</vt:lpstr>
      <vt:lpstr>Hanken Grotesk</vt:lpstr>
      <vt:lpstr>Darker Grotesque SemiBold</vt:lpstr>
      <vt:lpstr>Inter</vt:lpstr>
      <vt:lpstr>Roboto Mono</vt:lpstr>
      <vt:lpstr>My Presentation Template</vt:lpstr>
      <vt:lpstr>Projet PARM  Processeur Polytech-ARM Cortex-M </vt:lpstr>
      <vt:lpstr>Agenda &amp; contraintes du projet</vt:lpstr>
      <vt:lpstr>Répartition des tâches</vt:lpstr>
      <vt:lpstr>Fonctionnement global (de bout en bout)</vt:lpstr>
      <vt:lpstr>Tableau jeu d’instructions</vt:lpstr>
      <vt:lpstr>Architecture CPU (datapath)</vt:lpstr>
      <vt:lpstr>ISA supportée (Thumb 16 bits) - ce que notre CPU exécute</vt:lpstr>
      <vt:lpstr>Assembleur / Parseur</vt:lpstr>
      <vt:lpstr>ALU + Indicateurs (NZCV)</vt:lpstr>
      <vt:lpstr>ALU + Indicateurs (NZCV)</vt:lpstr>
      <vt:lpstr>Tests &amp; Taux de couverture</vt:lpstr>
      <vt:lpstr>Test fonctionnel final (démo) + Conclusion</vt:lpstr>
      <vt:lpstr>Axes d’amélioration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Eliot SKINNER</dc:creator>
  <cp:lastModifiedBy>Eliot SKINNER</cp:lastModifiedBy>
  <cp:revision>12</cp:revision>
  <dcterms:modified xsi:type="dcterms:W3CDTF">2026-01-29T09:30:15Z</dcterms:modified>
</cp:coreProperties>
</file>