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5"/>
  </p:notesMasterIdLst>
  <p:sldIdLst>
    <p:sldId id="256" r:id="rId2"/>
    <p:sldId id="257" r:id="rId3"/>
    <p:sldId id="263" r:id="rId4"/>
    <p:sldId id="289" r:id="rId5"/>
    <p:sldId id="290" r:id="rId6"/>
    <p:sldId id="262" r:id="rId7"/>
    <p:sldId id="258" r:id="rId8"/>
    <p:sldId id="259" r:id="rId9"/>
    <p:sldId id="261" r:id="rId10"/>
    <p:sldId id="291" r:id="rId11"/>
    <p:sldId id="267" r:id="rId12"/>
    <p:sldId id="260" r:id="rId13"/>
    <p:sldId id="268" r:id="rId14"/>
  </p:sldIdLst>
  <p:sldSz cx="9144000" cy="5143500" type="screen16x9"/>
  <p:notesSz cx="6858000" cy="9144000"/>
  <p:embeddedFontLst>
    <p:embeddedFont>
      <p:font typeface="Hanken Grotesk" panose="020B0604020202020204" charset="0"/>
      <p:regular r:id="rId16"/>
      <p:bold r:id="rId17"/>
      <p:italic r:id="rId18"/>
      <p:boldItalic r:id="rId19"/>
    </p:embeddedFont>
    <p:embeddedFont>
      <p:font typeface="Inter" panose="020B0604020202020204" charset="0"/>
      <p:regular r:id="rId20"/>
      <p:bold r:id="rId21"/>
      <p:italic r:id="rId22"/>
      <p:boldItalic r:id="rId23"/>
    </p:embeddedFont>
    <p:embeddedFont>
      <p:font typeface="Open Sans" panose="020B0606030504020204" pitchFamily="34" charset="0"/>
      <p:regular r:id="rId24"/>
      <p:bold r:id="rId25"/>
      <p:italic r:id="rId26"/>
      <p:boldItalic r:id="rId27"/>
    </p:embeddedFont>
    <p:embeddedFont>
      <p:font typeface="Raleway" pitchFamily="2" charset="0"/>
      <p:regular r:id="rId28"/>
      <p:bold r:id="rId29"/>
      <p:italic r:id="rId30"/>
      <p:boldItalic r:id="rId31"/>
    </p:embeddedFont>
    <p:embeddedFont>
      <p:font typeface="Roboto Mono" panose="00000009000000000000" pitchFamily="49" charset="0"/>
      <p:regular r:id="rId32"/>
      <p:bold r:id="rId33"/>
      <p:italic r:id="rId34"/>
      <p:boldItalic r:id="rId35"/>
    </p:embeddedFont>
    <p:embeddedFont>
      <p:font typeface="VT323" panose="020B0604020202020204" charset="0"/>
      <p:regular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EF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8766CA-E26D-4DF4-974C-C83455E116DF}">
  <a:tblStyle styleId="{528766CA-E26D-4DF4-974C-C83455E116D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938" autoAdjust="0"/>
  </p:normalViewPr>
  <p:slideViewPr>
    <p:cSldViewPr snapToGrid="0">
      <p:cViewPr varScale="1">
        <p:scale>
          <a:sx n="115" d="100"/>
          <a:sy n="115" d="100"/>
        </p:scale>
        <p:origin x="888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9" Type="http://schemas.openxmlformats.org/officeDocument/2006/relationships/theme" Target="theme/theme1.xml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font" Target="fonts/font21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font" Target="fonts/font20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66dfe6d782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66dfe6d782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ISA</a:t>
            </a:r>
            <a:r>
              <a:rPr lang="fr-FR" dirty="0"/>
              <a:t> = le “langage” du processeur : la liste des instructions qu’il comprend (ADD, SUB, LDR, STR, B…)</a:t>
            </a:r>
          </a:p>
          <a:p>
            <a:r>
              <a:rPr lang="fr-FR" b="1" dirty="0" err="1"/>
              <a:t>Thumb</a:t>
            </a:r>
            <a:r>
              <a:rPr lang="fr-FR" b="1" dirty="0"/>
              <a:t> 16 bits</a:t>
            </a:r>
            <a:r>
              <a:rPr lang="fr-FR" dirty="0"/>
              <a:t> = dans votre projet, </a:t>
            </a:r>
            <a:r>
              <a:rPr lang="fr-FR" b="1" dirty="0"/>
              <a:t>chaque instruction est codée sur 16 bits</a:t>
            </a:r>
            <a:r>
              <a:rPr lang="fr-FR" dirty="0"/>
              <a:t> (2 octets).</a:t>
            </a:r>
            <a:br>
              <a:rPr lang="fr-FR" dirty="0"/>
            </a:br>
            <a:r>
              <a:rPr lang="fr-FR" dirty="0"/>
              <a:t>Donc en ROM, le programme est une suite de “mots” de 16 bits.</a:t>
            </a:r>
          </a:p>
          <a:p>
            <a:r>
              <a:rPr lang="fr-FR" b="1" dirty="0"/>
              <a:t>Données 32 bits</a:t>
            </a:r>
            <a:r>
              <a:rPr lang="fr-FR" dirty="0"/>
              <a:t> = les valeurs manipulées par le CPU (registres, ALU, résultats) sont sur </a:t>
            </a:r>
            <a:r>
              <a:rPr lang="fr-FR" b="1" dirty="0"/>
              <a:t>32 bits</a:t>
            </a:r>
            <a:r>
              <a:rPr lang="fr-FR" dirty="0"/>
              <a:t> (4 octets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A8B6BCCB-C30F-EC7B-A39B-F2F4B74EA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>
            <a:extLst>
              <a:ext uri="{FF2B5EF4-FFF2-40B4-BE49-F238E27FC236}">
                <a16:creationId xmlns:a16="http://schemas.microsoft.com/office/drawing/2014/main" id="{98996BA7-B5ED-382A-54D0-453EF203CC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>
            <a:extLst>
              <a:ext uri="{FF2B5EF4-FFF2-40B4-BE49-F238E27FC236}">
                <a16:creationId xmlns:a16="http://schemas.microsoft.com/office/drawing/2014/main" id="{46652D8C-7ABE-460B-B613-3F4772B5F3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14615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C8FEA8E7-CC18-435F-FE48-C50F36C8B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>
            <a:extLst>
              <a:ext uri="{FF2B5EF4-FFF2-40B4-BE49-F238E27FC236}">
                <a16:creationId xmlns:a16="http://schemas.microsoft.com/office/drawing/2014/main" id="{52606B51-58F8-846D-AA34-4E35B12885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>
            <a:extLst>
              <a:ext uri="{FF2B5EF4-FFF2-40B4-BE49-F238E27FC236}">
                <a16:creationId xmlns:a16="http://schemas.microsoft.com/office/drawing/2014/main" id="{E1DE884A-CB3F-EB0F-9CF4-6731D2508B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11860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e1d838b627_4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e1d838b627_4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Instructions codées sur 16 bits, données/ALU sur 32 bits.</a:t>
            </a:r>
            <a:endParaRPr lang="fr-FR" dirty="0"/>
          </a:p>
          <a:p>
            <a:r>
              <a:rPr lang="fr-FR" b="1" dirty="0"/>
              <a:t>LDR/STR prennent 2 cycles : (1) calcul adresse, (2) accès RAM + écriture registre.</a:t>
            </a:r>
          </a:p>
          <a:p>
            <a:endParaRPr lang="fr-FR" b="1" dirty="0"/>
          </a:p>
          <a:p>
            <a:r>
              <a:rPr lang="fr-FR" b="1" dirty="0"/>
              <a:t>Pourquoi 2 cycles (LDR/STR) ?</a:t>
            </a:r>
            <a:br>
              <a:rPr lang="fr-FR" dirty="0"/>
            </a:br>
            <a:r>
              <a:rPr lang="fr-FR" dirty="0"/>
              <a:t>« Parce qu’on fait d’abord le calcul de l’adresse (SP + offset), puis l’accès à la RAM : 2 étapes → 2 cycles. »</a:t>
            </a:r>
          </a:p>
          <a:p>
            <a:r>
              <a:rPr lang="fr-FR" b="1" dirty="0"/>
              <a:t>Pourquoi pas de BL ?</a:t>
            </a:r>
            <a:br>
              <a:rPr lang="fr-FR" dirty="0"/>
            </a:br>
            <a:r>
              <a:rPr lang="fr-FR" dirty="0"/>
              <a:t>« BL sert à appeler une fonction en sauvegardant l’adresse de retour ; notre projet ne gère que les branches simples, pas l’appel/retour. »</a:t>
            </a:r>
          </a:p>
          <a:p>
            <a:pPr marL="158750" indent="0"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e1d838b627_4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e1d838b627_4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1" dirty="0"/>
              <a:t>Supporté </a:t>
            </a:r>
          </a:p>
          <a:p>
            <a:r>
              <a:rPr lang="fr-FR" dirty="0"/>
              <a:t>Sous-ensemble d’instructions (celles de notre CPU)</a:t>
            </a:r>
          </a:p>
          <a:p>
            <a:r>
              <a:rPr lang="fr-FR" b="1" dirty="0"/>
              <a:t>Immédiats / offsets</a:t>
            </a:r>
            <a:r>
              <a:rPr lang="fr-FR" dirty="0"/>
              <a:t> dans les limites</a:t>
            </a:r>
          </a:p>
          <a:p>
            <a:r>
              <a:rPr lang="fr-FR" b="1" dirty="0"/>
              <a:t>Commentaires</a:t>
            </a:r>
            <a:r>
              <a:rPr lang="fr-FR" dirty="0"/>
              <a:t> ignorés</a:t>
            </a:r>
          </a:p>
          <a:p>
            <a:r>
              <a:rPr lang="fr-FR" b="1" dirty="0"/>
              <a:t>Labels + branches</a:t>
            </a:r>
            <a:r>
              <a:rPr lang="fr-FR" dirty="0"/>
              <a:t> (sauts)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Vérifications </a:t>
            </a:r>
          </a:p>
          <a:p>
            <a:r>
              <a:rPr lang="fr-FR" dirty="0"/>
              <a:t>format d’instruction invalide</a:t>
            </a:r>
          </a:p>
          <a:p>
            <a:r>
              <a:rPr lang="fr-FR" dirty="0"/>
              <a:t>registre invalide</a:t>
            </a:r>
          </a:p>
          <a:p>
            <a:r>
              <a:rPr lang="fr-FR" dirty="0"/>
              <a:t>immédiat/offset trop grand</a:t>
            </a:r>
          </a:p>
          <a:p>
            <a:r>
              <a:rPr lang="fr-FR" dirty="0"/>
              <a:t>label inconnu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>
          <a:extLst>
            <a:ext uri="{FF2B5EF4-FFF2-40B4-BE49-F238E27FC236}">
              <a16:creationId xmlns:a16="http://schemas.microsoft.com/office/drawing/2014/main" id="{DAD9FCF3-25AC-C36D-DD3B-2CEC0C89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3fb61485ab_0_110:notes">
            <a:extLst>
              <a:ext uri="{FF2B5EF4-FFF2-40B4-BE49-F238E27FC236}">
                <a16:creationId xmlns:a16="http://schemas.microsoft.com/office/drawing/2014/main" id="{0AF95C57-846B-F76D-A118-35278DB34E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3fb61485ab_0_110:notes">
            <a:extLst>
              <a:ext uri="{FF2B5EF4-FFF2-40B4-BE49-F238E27FC236}">
                <a16:creationId xmlns:a16="http://schemas.microsoft.com/office/drawing/2014/main" id="{B374EEC7-BB73-2B5B-632B-FFC6295F4A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1" dirty="0"/>
              <a:t>Indicateurs NZCV</a:t>
            </a:r>
            <a:endParaRPr lang="fr-FR" dirty="0"/>
          </a:p>
          <a:p>
            <a:r>
              <a:rPr lang="fr-FR" b="1" dirty="0"/>
              <a:t>N</a:t>
            </a:r>
            <a:r>
              <a:rPr lang="fr-FR" dirty="0"/>
              <a:t> : résultat négatif</a:t>
            </a:r>
          </a:p>
          <a:p>
            <a:r>
              <a:rPr lang="fr-FR" b="1" dirty="0"/>
              <a:t>Z</a:t>
            </a:r>
            <a:r>
              <a:rPr lang="fr-FR" dirty="0"/>
              <a:t> : résultat = 0</a:t>
            </a:r>
          </a:p>
          <a:p>
            <a:r>
              <a:rPr lang="fr-FR" b="1" dirty="0"/>
              <a:t>C</a:t>
            </a:r>
            <a:r>
              <a:rPr lang="fr-FR" dirty="0"/>
              <a:t> : retenue (carry)</a:t>
            </a:r>
          </a:p>
          <a:p>
            <a:r>
              <a:rPr lang="fr-FR" b="1" dirty="0"/>
              <a:t>V</a:t>
            </a:r>
            <a:r>
              <a:rPr lang="fr-FR" dirty="0"/>
              <a:t> : dépassement (</a:t>
            </a:r>
            <a:r>
              <a:rPr lang="fr-FR" dirty="0" err="1"/>
              <a:t>overflow</a:t>
            </a:r>
            <a:r>
              <a:rPr lang="fr-F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790622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2dfe25653d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2dfe25653d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Démo (2 min)</a:t>
            </a:r>
          </a:p>
          <a:p>
            <a:r>
              <a:rPr lang="fr-FR" dirty="0"/>
              <a:t>lancer </a:t>
            </a:r>
            <a:r>
              <a:rPr lang="fr-FR" b="1" dirty="0"/>
              <a:t>1 test unitaire</a:t>
            </a:r>
            <a:r>
              <a:rPr lang="fr-FR" dirty="0"/>
              <a:t> (rapide)</a:t>
            </a:r>
          </a:p>
          <a:p>
            <a:r>
              <a:rPr lang="fr-FR" dirty="0"/>
              <a:t>lancer </a:t>
            </a:r>
            <a:r>
              <a:rPr lang="fr-FR" b="1" dirty="0"/>
              <a:t>1 test intégration CPU</a:t>
            </a:r>
            <a:r>
              <a:rPr lang="fr-FR" dirty="0"/>
              <a:t> (votre programme le plus complet)</a:t>
            </a:r>
          </a:p>
          <a:p>
            <a:r>
              <a:rPr lang="fr-FR" dirty="0"/>
              <a:t>lancer </a:t>
            </a:r>
            <a:r>
              <a:rPr lang="fr-FR" b="1" dirty="0"/>
              <a:t>1 test parseur</a:t>
            </a:r>
            <a:r>
              <a:rPr lang="fr-FR" dirty="0"/>
              <a:t> (</a:t>
            </a:r>
            <a:r>
              <a:rPr lang="fr-F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.s → .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hex</a:t>
            </a:r>
            <a:r>
              <a:rPr lang="fr-FR" dirty="0"/>
              <a:t> + exemple d’erreur gérée)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e1d838b627_4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e1d838b627_4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0" name="Google Shape;10;p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2"/>
          <p:cNvSpPr>
            <a:spLocks noGrp="1"/>
          </p:cNvSpPr>
          <p:nvPr>
            <p:ph type="pic" idx="2"/>
          </p:nvPr>
        </p:nvSpPr>
        <p:spPr>
          <a:xfrm>
            <a:off x="5805375" y="1317075"/>
            <a:ext cx="2831700" cy="26481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606800" y="3364900"/>
            <a:ext cx="4351500" cy="1135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15" name="Google Shape;15;p2" title="Sin título-2.png"/>
          <p:cNvPicPr preferRelativeResize="0"/>
          <p:nvPr/>
        </p:nvPicPr>
        <p:blipFill rotWithShape="1">
          <a:blip r:embed="rId3">
            <a:alphaModFix/>
          </a:blip>
          <a:srcRect l="61982"/>
          <a:stretch/>
        </p:blipFill>
        <p:spPr>
          <a:xfrm>
            <a:off x="5805376" y="1051575"/>
            <a:ext cx="2831677" cy="2655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3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8" name="Google Shape;18;p3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0" name="Google Shape;20;p3" title="Sin título-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3000" y="3371475"/>
            <a:ext cx="5515599" cy="135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Sin título-4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5462" y="817950"/>
            <a:ext cx="5399452" cy="3024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1860500" y="1532500"/>
            <a:ext cx="3459000" cy="152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79673" y="1910725"/>
            <a:ext cx="778200" cy="764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5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3465325" y="3918575"/>
            <a:ext cx="5174400" cy="6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>
            <a:spLocks noGrp="1"/>
          </p:cNvSpPr>
          <p:nvPr>
            <p:ph type="pic" idx="3"/>
          </p:nvPr>
        </p:nvSpPr>
        <p:spPr>
          <a:xfrm flipH="1">
            <a:off x="6386650" y="947025"/>
            <a:ext cx="2107500" cy="20676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28" name="Google Shape;28;p4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>
            <a:spLocks noGrp="1"/>
          </p:cNvSpPr>
          <p:nvPr>
            <p:ph type="subTitle" idx="1"/>
          </p:nvPr>
        </p:nvSpPr>
        <p:spPr>
          <a:xfrm>
            <a:off x="3540003" y="1330738"/>
            <a:ext cx="3941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2"/>
          </p:nvPr>
        </p:nvSpPr>
        <p:spPr>
          <a:xfrm>
            <a:off x="3540003" y="3067776"/>
            <a:ext cx="3941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3"/>
          </p:nvPr>
        </p:nvSpPr>
        <p:spPr>
          <a:xfrm>
            <a:off x="3540003" y="1827236"/>
            <a:ext cx="3941400" cy="11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4"/>
          </p:nvPr>
        </p:nvSpPr>
        <p:spPr>
          <a:xfrm>
            <a:off x="3540003" y="3564275"/>
            <a:ext cx="3941400" cy="11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573700" cy="60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39" name="Google Shape;39;p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oogle Shape;41;p6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2" name="Google Shape;42;p6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;p6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45" name="Google Shape;45;p6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oogle Shape;47;p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8" name="Google Shape;48;p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8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5" name="Google Shape;55;p8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8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" name="Google Shape;57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9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0" name="Google Shape;60;p9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1;p9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2" name="Google Shape;62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oogle Shape;71;p11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72" name="Google Shape;72;p11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11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4" name="Google Shape;7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75" name="Google Shape;75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3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534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1"/>
          </p:nvPr>
        </p:nvSpPr>
        <p:spPr>
          <a:xfrm>
            <a:off x="1107250" y="17966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2"/>
          </p:nvPr>
        </p:nvSpPr>
        <p:spPr>
          <a:xfrm>
            <a:off x="1107250" y="244283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3"/>
          </p:nvPr>
        </p:nvSpPr>
        <p:spPr>
          <a:xfrm>
            <a:off x="1107250" y="3089042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4"/>
          </p:nvPr>
        </p:nvSpPr>
        <p:spPr>
          <a:xfrm>
            <a:off x="1107250" y="3735250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5"/>
          </p:nvPr>
        </p:nvSpPr>
        <p:spPr>
          <a:xfrm>
            <a:off x="4851600" y="17966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6"/>
          </p:nvPr>
        </p:nvSpPr>
        <p:spPr>
          <a:xfrm>
            <a:off x="4851600" y="24428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7"/>
          </p:nvPr>
        </p:nvSpPr>
        <p:spPr>
          <a:xfrm>
            <a:off x="4851600" y="30890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8"/>
          </p:nvPr>
        </p:nvSpPr>
        <p:spPr>
          <a:xfrm>
            <a:off x="4851600" y="3735244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title" idx="9" hasCustomPrompt="1"/>
          </p:nvPr>
        </p:nvSpPr>
        <p:spPr>
          <a:xfrm>
            <a:off x="341850" y="3849550"/>
            <a:ext cx="7653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13" hasCustomPrompt="1"/>
          </p:nvPr>
        </p:nvSpPr>
        <p:spPr>
          <a:xfrm>
            <a:off x="341850" y="2560850"/>
            <a:ext cx="7653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 idx="14" hasCustomPrompt="1"/>
          </p:nvPr>
        </p:nvSpPr>
        <p:spPr>
          <a:xfrm>
            <a:off x="342582" y="1916800"/>
            <a:ext cx="7641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15" hasCustomPrompt="1"/>
          </p:nvPr>
        </p:nvSpPr>
        <p:spPr>
          <a:xfrm>
            <a:off x="341850" y="3205200"/>
            <a:ext cx="7653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16" hasCustomPrompt="1"/>
          </p:nvPr>
        </p:nvSpPr>
        <p:spPr>
          <a:xfrm>
            <a:off x="3985789" y="2561048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17" hasCustomPrompt="1"/>
          </p:nvPr>
        </p:nvSpPr>
        <p:spPr>
          <a:xfrm>
            <a:off x="3985787" y="3205296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18" hasCustomPrompt="1"/>
          </p:nvPr>
        </p:nvSpPr>
        <p:spPr>
          <a:xfrm>
            <a:off x="3985789" y="3849544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19" hasCustomPrompt="1"/>
          </p:nvPr>
        </p:nvSpPr>
        <p:spPr>
          <a:xfrm>
            <a:off x="3985789" y="1916800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pic>
        <p:nvPicPr>
          <p:cNvPr id="96" name="Google Shape;96;p13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2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1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1" name="Google Shape;101;p14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5"/>
          <p:cNvSpPr txBox="1">
            <a:spLocks noGrp="1"/>
          </p:cNvSpPr>
          <p:nvPr>
            <p:ph type="body" idx="1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6" name="Google Shape;106;p15"/>
          <p:cNvSpPr>
            <a:spLocks noGrp="1"/>
          </p:cNvSpPr>
          <p:nvPr>
            <p:ph type="pic" idx="2"/>
          </p:nvPr>
        </p:nvSpPr>
        <p:spPr>
          <a:xfrm>
            <a:off x="522525" y="1195150"/>
            <a:ext cx="2947200" cy="33414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107" name="Google Shape;107;p1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1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14" name="Google Shape;114;p1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1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6" name="Google Shape;116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8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8"/>
          <p:cNvSpPr txBox="1">
            <a:spLocks noGrp="1"/>
          </p:cNvSpPr>
          <p:nvPr>
            <p:ph type="subTitle" idx="1"/>
          </p:nvPr>
        </p:nvSpPr>
        <p:spPr>
          <a:xfrm>
            <a:off x="3145041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subTitle" idx="2"/>
          </p:nvPr>
        </p:nvSpPr>
        <p:spPr>
          <a:xfrm>
            <a:off x="341850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8"/>
          <p:cNvSpPr txBox="1">
            <a:spLocks noGrp="1"/>
          </p:cNvSpPr>
          <p:nvPr>
            <p:ph type="subTitle" idx="3"/>
          </p:nvPr>
        </p:nvSpPr>
        <p:spPr>
          <a:xfrm>
            <a:off x="5948257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8"/>
          <p:cNvSpPr txBox="1">
            <a:spLocks noGrp="1"/>
          </p:cNvSpPr>
          <p:nvPr>
            <p:ph type="title" hasCustomPrompt="1"/>
          </p:nvPr>
        </p:nvSpPr>
        <p:spPr>
          <a:xfrm>
            <a:off x="3144432" y="1706300"/>
            <a:ext cx="6987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3" name="Google Shape;123;p18"/>
          <p:cNvSpPr txBox="1">
            <a:spLocks noGrp="1"/>
          </p:cNvSpPr>
          <p:nvPr>
            <p:ph type="title" idx="4" hasCustomPrompt="1"/>
          </p:nvPr>
        </p:nvSpPr>
        <p:spPr>
          <a:xfrm>
            <a:off x="341854" y="1706450"/>
            <a:ext cx="6975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4" name="Google Shape;124;p18"/>
          <p:cNvSpPr txBox="1">
            <a:spLocks noGrp="1"/>
          </p:cNvSpPr>
          <p:nvPr>
            <p:ph type="title" idx="5" hasCustomPrompt="1"/>
          </p:nvPr>
        </p:nvSpPr>
        <p:spPr>
          <a:xfrm>
            <a:off x="5948295" y="1706300"/>
            <a:ext cx="69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5" name="Google Shape;125;p18"/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126" name="Google Shape;126;p18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20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45" name="Google Shape;145;p20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" name="Google Shape;146;p20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7" name="Google Shape;147;p20"/>
          <p:cNvSpPr txBox="1">
            <a:spLocks noGrp="1"/>
          </p:cNvSpPr>
          <p:nvPr>
            <p:ph type="title" hasCustomPrompt="1"/>
          </p:nvPr>
        </p:nvSpPr>
        <p:spPr>
          <a:xfrm>
            <a:off x="792825" y="974863"/>
            <a:ext cx="3876600" cy="75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8" name="Google Shape;148;p20"/>
          <p:cNvSpPr txBox="1">
            <a:spLocks noGrp="1"/>
          </p:cNvSpPr>
          <p:nvPr>
            <p:ph type="subTitle" idx="1"/>
          </p:nvPr>
        </p:nvSpPr>
        <p:spPr>
          <a:xfrm>
            <a:off x="792825" y="1629188"/>
            <a:ext cx="38766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0"/>
          <p:cNvSpPr txBox="1">
            <a:spLocks noGrp="1"/>
          </p:cNvSpPr>
          <p:nvPr>
            <p:ph type="title" idx="2" hasCustomPrompt="1"/>
          </p:nvPr>
        </p:nvSpPr>
        <p:spPr>
          <a:xfrm>
            <a:off x="4298725" y="2743425"/>
            <a:ext cx="3929100" cy="75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50" name="Google Shape;150;p20"/>
          <p:cNvSpPr txBox="1">
            <a:spLocks noGrp="1"/>
          </p:cNvSpPr>
          <p:nvPr>
            <p:ph type="subTitle" idx="3"/>
          </p:nvPr>
        </p:nvSpPr>
        <p:spPr>
          <a:xfrm>
            <a:off x="4298725" y="3498224"/>
            <a:ext cx="39291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2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61" name="Google Shape;161;p2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6" r:id="rId16"/>
    <p:sldLayoutId id="2147483668" r:id="rId17"/>
    <p:sldLayoutId id="2147483669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PARM_error_tes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a_U0f8Z8xjU8Zf5EdLGud3Xe3KNRaufZWkjVgit4xNw/cop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hyperlink" Target="file:///C:\Code\PARM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28" title="nature-landscape-with-vegetation-flora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1657" t="9673" r="9487"/>
          <a:stretch/>
        </p:blipFill>
        <p:spPr>
          <a:xfrm>
            <a:off x="5805375" y="1317075"/>
            <a:ext cx="2831677" cy="2648200"/>
          </a:xfrm>
          <a:prstGeom prst="rect">
            <a:avLst/>
          </a:prstGeom>
        </p:spPr>
      </p:pic>
      <p:sp>
        <p:nvSpPr>
          <p:cNvPr id="180" name="Google Shape;180;p28"/>
          <p:cNvSpPr txBox="1">
            <a:spLocks noGrp="1"/>
          </p:cNvSpPr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Projet PARM</a:t>
            </a:r>
            <a:r>
              <a:rPr lang="en" dirty="0"/>
              <a:t> </a:t>
            </a:r>
            <a:endParaRPr dirty="0"/>
          </a:p>
          <a:p>
            <a:pPr lvl="0"/>
            <a:r>
              <a:rPr lang="fr-FR" dirty="0"/>
              <a:t>Processeur Polytech-ARM Cortex-M </a:t>
            </a:r>
            <a:endParaRPr dirty="0"/>
          </a:p>
        </p:txBody>
      </p:sp>
      <p:sp>
        <p:nvSpPr>
          <p:cNvPr id="181" name="Google Shape;181;p28"/>
          <p:cNvSpPr txBox="1">
            <a:spLocks noGrp="1"/>
          </p:cNvSpPr>
          <p:nvPr>
            <p:ph type="subTitle" idx="1"/>
          </p:nvPr>
        </p:nvSpPr>
        <p:spPr>
          <a:xfrm>
            <a:off x="559754" y="3549627"/>
            <a:ext cx="4351500" cy="11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(simulation </a:t>
            </a:r>
            <a:r>
              <a:rPr lang="fr-FR" dirty="0" err="1"/>
              <a:t>Logisim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82" name="Google Shape;182;p28"/>
          <p:cNvSpPr txBox="1"/>
          <p:nvPr/>
        </p:nvSpPr>
        <p:spPr>
          <a:xfrm>
            <a:off x="435854" y="205291"/>
            <a:ext cx="44754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dirty="0" err="1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Ezedin</a:t>
            </a:r>
            <a:r>
              <a:rPr lang="fr-FR" sz="16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 / Samy / Othman / Eliot</a:t>
            </a:r>
            <a:endParaRPr sz="16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9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Agenda &amp; contraintes du projet</a:t>
            </a:r>
            <a:endParaRPr dirty="0"/>
          </a:p>
        </p:txBody>
      </p:sp>
      <p:sp>
        <p:nvSpPr>
          <p:cNvPr id="189" name="Google Shape;189;p29"/>
          <p:cNvSpPr/>
          <p:nvPr/>
        </p:nvSpPr>
        <p:spPr>
          <a:xfrm>
            <a:off x="1142331" y="1798492"/>
            <a:ext cx="137190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Agenda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29"/>
          <p:cNvSpPr txBox="1"/>
          <p:nvPr/>
        </p:nvSpPr>
        <p:spPr>
          <a:xfrm>
            <a:off x="809793" y="2345680"/>
            <a:ext cx="2376752" cy="2111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1. 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Slides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compréhension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+ architecture (~4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2.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CPU Logisim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exécution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pas-à-pas (~2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3.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assembleur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                .s → .hex Logisim (~2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4.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tests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+                      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taux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de couverture (~2 min)</a:t>
            </a:r>
          </a:p>
        </p:txBody>
      </p:sp>
      <p:sp>
        <p:nvSpPr>
          <p:cNvPr id="191" name="Google Shape;191;p29"/>
          <p:cNvSpPr/>
          <p:nvPr/>
        </p:nvSpPr>
        <p:spPr>
          <a:xfrm>
            <a:off x="0" y="4801425"/>
            <a:ext cx="9144000" cy="342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92" name="Google Shape;19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06800" y="49066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9"/>
          <p:cNvSpPr/>
          <p:nvPr/>
        </p:nvSpPr>
        <p:spPr>
          <a:xfrm>
            <a:off x="3719775" y="1814105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Cadre / contraintes imposées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4" name="Google Shape;194;p29"/>
          <p:cNvSpPr txBox="1"/>
          <p:nvPr/>
        </p:nvSpPr>
        <p:spPr>
          <a:xfrm>
            <a:off x="3336453" y="2306666"/>
            <a:ext cx="2810871" cy="2322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ISA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Thumb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16 bits (instructions sur 16 bits), données 32 bits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Mémoire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ROM (programme) + RAM (données) dans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Logisim</a:t>
            </a:r>
            <a:endParaRPr lang="fr-FR"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Timing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LDR/STR = 2 cycles, le reste = 1 cycle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Objectif soutenance 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expliquer tout le fonctionnement, puis montrer le test fonctionnel le plus complet</a:t>
            </a: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29"/>
          <p:cNvSpPr/>
          <p:nvPr/>
        </p:nvSpPr>
        <p:spPr>
          <a:xfrm>
            <a:off x="6463495" y="1752261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Ce qu’on va prouver aujourd’hui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6251818" y="2283012"/>
            <a:ext cx="2448837" cy="1100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Que la chaîne complète fonctionne :</a:t>
            </a:r>
          </a:p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assembleur → ROM → CPU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Logisim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→ résultat + tests/couverture.</a:t>
            </a: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8" name="Google Shape;1968;p52">
            <a:extLst>
              <a:ext uri="{FF2B5EF4-FFF2-40B4-BE49-F238E27FC236}">
                <a16:creationId xmlns:a16="http://schemas.microsoft.com/office/drawing/2014/main" id="{F891678C-C938-61CC-9D03-277EC1105BB3}"/>
              </a:ext>
            </a:extLst>
          </p:cNvPr>
          <p:cNvGrpSpPr/>
          <p:nvPr/>
        </p:nvGrpSpPr>
        <p:grpSpPr>
          <a:xfrm>
            <a:off x="7036386" y="3458987"/>
            <a:ext cx="879699" cy="998200"/>
            <a:chOff x="6870193" y="2295620"/>
            <a:chExt cx="360356" cy="343462"/>
          </a:xfrm>
        </p:grpSpPr>
        <p:sp>
          <p:nvSpPr>
            <p:cNvPr id="9" name="Google Shape;1969;p52">
              <a:extLst>
                <a:ext uri="{FF2B5EF4-FFF2-40B4-BE49-F238E27FC236}">
                  <a16:creationId xmlns:a16="http://schemas.microsoft.com/office/drawing/2014/main" id="{58A3A435-EEAA-26F9-5709-BCBFB1908008}"/>
                </a:ext>
              </a:extLst>
            </p:cNvPr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970;p52">
              <a:extLst>
                <a:ext uri="{FF2B5EF4-FFF2-40B4-BE49-F238E27FC236}">
                  <a16:creationId xmlns:a16="http://schemas.microsoft.com/office/drawing/2014/main" id="{E78C51C4-0451-503F-06C3-B522C91F3693}"/>
                </a:ext>
              </a:extLst>
            </p:cNvPr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Fonctionnement global (de bout en bout)</a:t>
            </a:r>
            <a:endParaRPr lang="fr-FR" dirty="0"/>
          </a:p>
        </p:txBody>
      </p:sp>
      <p:sp>
        <p:nvSpPr>
          <p:cNvPr id="287" name="Google Shape;287;p35"/>
          <p:cNvSpPr txBox="1">
            <a:spLocks noGrp="1"/>
          </p:cNvSpPr>
          <p:nvPr>
            <p:ph type="subTitle" idx="2"/>
          </p:nvPr>
        </p:nvSpPr>
        <p:spPr>
          <a:xfrm>
            <a:off x="454936" y="1950313"/>
            <a:ext cx="5726442" cy="11315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Fichier assembleur </a:t>
            </a:r>
            <a:r>
              <a:rPr lang="fr-FR" dirty="0"/>
              <a:t>.s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Assembleur</a:t>
            </a:r>
            <a:r>
              <a:rPr lang="fr-FR" dirty="0"/>
              <a:t> (parseur + encodeur) → génère ROM </a:t>
            </a:r>
            <a:r>
              <a:rPr lang="fr-FR" dirty="0" err="1"/>
              <a:t>Logisim</a:t>
            </a:r>
            <a:r>
              <a:rPr lang="fr-FR" dirty="0"/>
              <a:t> .</a:t>
            </a:r>
            <a:r>
              <a:rPr lang="fr-FR" dirty="0" err="1"/>
              <a:t>hex</a:t>
            </a:r>
            <a:endParaRPr lang="fr-F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Chargement ROM </a:t>
            </a:r>
            <a:r>
              <a:rPr lang="fr-FR" dirty="0"/>
              <a:t>dans </a:t>
            </a:r>
            <a:r>
              <a:rPr lang="fr-FR" dirty="0" err="1"/>
              <a:t>Logisim</a:t>
            </a:r>
            <a:endParaRPr lang="fr-F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CPU exécute </a:t>
            </a:r>
            <a:r>
              <a:rPr lang="fr-FR" dirty="0"/>
              <a:t>→ lit/écrit </a:t>
            </a:r>
            <a:r>
              <a:rPr lang="fr-FR" b="1" dirty="0"/>
              <a:t>RAM</a:t>
            </a:r>
            <a:r>
              <a:rPr lang="fr-FR" dirty="0"/>
              <a:t> → met à jour registres + </a:t>
            </a:r>
            <a:r>
              <a:rPr lang="fr-FR" b="1" dirty="0"/>
              <a:t>flags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Résultat observable </a:t>
            </a:r>
            <a:r>
              <a:rPr lang="fr-FR" dirty="0"/>
              <a:t>: registres / mémoire / flags / PC</a:t>
            </a:r>
            <a:endParaRPr dirty="0"/>
          </a:p>
        </p:txBody>
      </p:sp>
      <p:sp>
        <p:nvSpPr>
          <p:cNvPr id="290" name="Google Shape;290;p35"/>
          <p:cNvSpPr txBox="1">
            <a:spLocks noGrp="1"/>
          </p:cNvSpPr>
          <p:nvPr>
            <p:ph type="title" idx="4"/>
          </p:nvPr>
        </p:nvSpPr>
        <p:spPr>
          <a:xfrm>
            <a:off x="341850" y="1486821"/>
            <a:ext cx="3796037" cy="41249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Code → binaire → exécution</a:t>
            </a:r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4D7F7CC-16F7-0772-15C9-889B27568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3461681"/>
            <a:ext cx="5119652" cy="9548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129DCC1-7F42-8756-58D0-4F9C6AE99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5792" y="3132839"/>
            <a:ext cx="3168886" cy="8437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D359AE4E-E2A7-4588-F402-BED40C8E8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>
            <a:extLst>
              <a:ext uri="{FF2B5EF4-FFF2-40B4-BE49-F238E27FC236}">
                <a16:creationId xmlns:a16="http://schemas.microsoft.com/office/drawing/2014/main" id="{2EC59BBC-A093-5953-1410-7A1EA2E35409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Fonctionnement global (de bout en bout)</a:t>
            </a:r>
            <a:endParaRPr lang="fr-FR" dirty="0"/>
          </a:p>
        </p:txBody>
      </p:sp>
      <p:sp>
        <p:nvSpPr>
          <p:cNvPr id="286" name="Google Shape;286;p35">
            <a:extLst>
              <a:ext uri="{FF2B5EF4-FFF2-40B4-BE49-F238E27FC236}">
                <a16:creationId xmlns:a16="http://schemas.microsoft.com/office/drawing/2014/main" id="{49C037BE-B2A4-126D-1944-A437AEFCF9F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1850" y="2232821"/>
            <a:ext cx="4236365" cy="10366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PC</a:t>
            </a:r>
            <a:r>
              <a:rPr lang="fr-FR" dirty="0"/>
              <a:t> (adresse instruction) → </a:t>
            </a:r>
            <a:r>
              <a:rPr lang="fr-FR" b="1" dirty="0"/>
              <a:t>ROM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IR</a:t>
            </a:r>
            <a:r>
              <a:rPr lang="fr-FR" dirty="0"/>
              <a:t> (instruction) → </a:t>
            </a:r>
            <a:r>
              <a:rPr lang="fr-FR" b="1" dirty="0"/>
              <a:t>Décodeur / Contrôleur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Banc de registres </a:t>
            </a:r>
            <a:r>
              <a:rPr lang="fr-FR" dirty="0"/>
              <a:t>→ </a:t>
            </a:r>
            <a:r>
              <a:rPr lang="fr-FR" b="1" dirty="0"/>
              <a:t>ALU</a:t>
            </a:r>
            <a:r>
              <a:rPr lang="fr-FR" dirty="0"/>
              <a:t> → </a:t>
            </a:r>
            <a:r>
              <a:rPr lang="fr-FR" b="1" dirty="0" err="1"/>
              <a:t>Writeback</a:t>
            </a:r>
            <a:endParaRPr lang="fr-FR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Flags NZCV </a:t>
            </a:r>
            <a:r>
              <a:rPr lang="fr-FR" dirty="0"/>
              <a:t>(maj selon instruction)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Interface</a:t>
            </a:r>
            <a:r>
              <a:rPr lang="fr-FR" dirty="0"/>
              <a:t> </a:t>
            </a:r>
            <a:r>
              <a:rPr lang="fr-FR" b="1" dirty="0"/>
              <a:t>RAM</a:t>
            </a:r>
            <a:r>
              <a:rPr lang="fr-FR" dirty="0"/>
              <a:t> (pour LDR/STR)</a:t>
            </a:r>
            <a:endParaRPr dirty="0"/>
          </a:p>
        </p:txBody>
      </p:sp>
      <p:sp>
        <p:nvSpPr>
          <p:cNvPr id="289" name="Google Shape;289;p35">
            <a:extLst>
              <a:ext uri="{FF2B5EF4-FFF2-40B4-BE49-F238E27FC236}">
                <a16:creationId xmlns:a16="http://schemas.microsoft.com/office/drawing/2014/main" id="{9D0CFC3F-989F-CFFB-FCCA-7026B06FFB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1850" y="1762368"/>
            <a:ext cx="3792077" cy="28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CPU = </a:t>
            </a:r>
            <a:r>
              <a:rPr lang="fr-FR" dirty="0" err="1"/>
              <a:t>Datapath</a:t>
            </a:r>
            <a:r>
              <a:rPr lang="fr-FR" dirty="0"/>
              <a:t> + Contrôleur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3F836E-5610-241E-68EB-F46AF7471D81}"/>
              </a:ext>
            </a:extLst>
          </p:cNvPr>
          <p:cNvSpPr txBox="1"/>
          <p:nvPr/>
        </p:nvSpPr>
        <p:spPr>
          <a:xfrm>
            <a:off x="5080000" y="2052268"/>
            <a:ext cx="361141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</a:rPr>
              <a:t>SCREEN : Dans </a:t>
            </a:r>
            <a:r>
              <a:rPr lang="fr-FR" dirty="0" err="1">
                <a:solidFill>
                  <a:srgbClr val="C00000"/>
                </a:solidFill>
              </a:rPr>
              <a:t>Logisim</a:t>
            </a:r>
            <a:r>
              <a:rPr lang="fr-FR" dirty="0">
                <a:solidFill>
                  <a:srgbClr val="C00000"/>
                </a:solidFill>
              </a:rPr>
              <a:t> : </a:t>
            </a:r>
            <a:r>
              <a:rPr lang="fr-FR" b="1" dirty="0">
                <a:solidFill>
                  <a:srgbClr val="C00000"/>
                </a:solidFill>
              </a:rPr>
              <a:t>le circuit top-</a:t>
            </a:r>
            <a:r>
              <a:rPr lang="fr-FR" b="1" dirty="0" err="1">
                <a:solidFill>
                  <a:srgbClr val="C00000"/>
                </a:solidFill>
              </a:rPr>
              <a:t>level</a:t>
            </a:r>
            <a:r>
              <a:rPr lang="fr-FR" dirty="0">
                <a:solidFill>
                  <a:srgbClr val="C00000"/>
                </a:solidFill>
              </a:rPr>
              <a:t> où on voit </a:t>
            </a:r>
            <a:r>
              <a:rPr lang="fr-FR" b="1" dirty="0">
                <a:solidFill>
                  <a:srgbClr val="C00000"/>
                </a:solidFill>
              </a:rPr>
              <a:t>CPU + ROM + RAM</a:t>
            </a:r>
            <a:r>
              <a:rPr lang="fr-FR" dirty="0">
                <a:solidFill>
                  <a:srgbClr val="C00000"/>
                </a:solidFill>
              </a:rPr>
              <a:t> connectés (avec labels visibles : PC, ROM, RAM, Flags)</a:t>
            </a:r>
          </a:p>
          <a:p>
            <a:r>
              <a:rPr lang="fr-FR" dirty="0">
                <a:solidFill>
                  <a:srgbClr val="C00000"/>
                </a:solidFill>
              </a:rPr>
              <a:t>👉 Astuce : active l’affichage des noms de composants / nets si possible, et zoom pour que ça reste lisible.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18269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8BB4945D-981F-ABE4-AD4F-DBA9D5A04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>
            <a:extLst>
              <a:ext uri="{FF2B5EF4-FFF2-40B4-BE49-F238E27FC236}">
                <a16:creationId xmlns:a16="http://schemas.microsoft.com/office/drawing/2014/main" id="{12E668FB-7C70-80AE-6973-C7C72BAA13C6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Fonctionnement global (de bout en bout)</a:t>
            </a:r>
            <a:endParaRPr lang="fr-FR" dirty="0"/>
          </a:p>
        </p:txBody>
      </p:sp>
      <p:sp>
        <p:nvSpPr>
          <p:cNvPr id="286" name="Google Shape;286;p35">
            <a:extLst>
              <a:ext uri="{FF2B5EF4-FFF2-40B4-BE49-F238E27FC236}">
                <a16:creationId xmlns:a16="http://schemas.microsoft.com/office/drawing/2014/main" id="{2E3F9ACF-5243-EB58-9D5E-965D7E5F133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8651" y="2429013"/>
            <a:ext cx="5883458" cy="11938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 err="1"/>
              <a:t>Fetch</a:t>
            </a:r>
            <a:r>
              <a:rPr lang="fr-FR" dirty="0"/>
              <a:t> : PC lit ROM, IR reçoit l’instruction</a:t>
            </a:r>
          </a:p>
          <a:p>
            <a:r>
              <a:rPr lang="fr-FR" b="1" dirty="0" err="1"/>
              <a:t>Decode</a:t>
            </a:r>
            <a:r>
              <a:rPr lang="fr-FR" dirty="0"/>
              <a:t> : contrôle des </a:t>
            </a:r>
            <a:r>
              <a:rPr lang="fr-FR" dirty="0" err="1"/>
              <a:t>mux</a:t>
            </a:r>
            <a:r>
              <a:rPr lang="fr-FR" dirty="0"/>
              <a:t> / </a:t>
            </a:r>
            <a:r>
              <a:rPr lang="fr-FR" dirty="0" err="1"/>
              <a:t>write</a:t>
            </a:r>
            <a:r>
              <a:rPr lang="fr-FR" dirty="0"/>
              <a:t> enable / type d’opération</a:t>
            </a:r>
          </a:p>
          <a:p>
            <a:r>
              <a:rPr lang="fr-FR" b="1" dirty="0" err="1"/>
              <a:t>Execute</a:t>
            </a:r>
            <a:r>
              <a:rPr lang="fr-FR" dirty="0"/>
              <a:t> : ALU calcule résultat + flags</a:t>
            </a:r>
          </a:p>
          <a:p>
            <a:r>
              <a:rPr lang="fr-FR" b="1" dirty="0"/>
              <a:t>Memory</a:t>
            </a:r>
            <a:r>
              <a:rPr lang="fr-FR" dirty="0"/>
              <a:t> (si LDR/STR) : accès RAM</a:t>
            </a:r>
          </a:p>
          <a:p>
            <a:r>
              <a:rPr lang="fr-FR" b="1" dirty="0" err="1"/>
              <a:t>Writeback</a:t>
            </a:r>
            <a:r>
              <a:rPr lang="fr-FR" dirty="0"/>
              <a:t> : écrit registre / PC / SP</a:t>
            </a:r>
          </a:p>
        </p:txBody>
      </p:sp>
      <p:sp>
        <p:nvSpPr>
          <p:cNvPr id="289" name="Google Shape;289;p35">
            <a:extLst>
              <a:ext uri="{FF2B5EF4-FFF2-40B4-BE49-F238E27FC236}">
                <a16:creationId xmlns:a16="http://schemas.microsoft.com/office/drawing/2014/main" id="{FC29C00F-2CBE-7999-7A3F-27A475896D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9610" y="1919386"/>
            <a:ext cx="3792077" cy="28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Cycle (simplifié)</a:t>
            </a:r>
            <a:endParaRPr dirty="0"/>
          </a:p>
        </p:txBody>
      </p:sp>
      <p:sp>
        <p:nvSpPr>
          <p:cNvPr id="3" name="Google Shape;286;p35">
            <a:extLst>
              <a:ext uri="{FF2B5EF4-FFF2-40B4-BE49-F238E27FC236}">
                <a16:creationId xmlns:a16="http://schemas.microsoft.com/office/drawing/2014/main" id="{8BCCD014-0C8B-B8BF-F111-0B0A87DFF085}"/>
              </a:ext>
            </a:extLst>
          </p:cNvPr>
          <p:cNvSpPr txBox="1">
            <a:spLocks/>
          </p:cNvSpPr>
          <p:nvPr/>
        </p:nvSpPr>
        <p:spPr>
          <a:xfrm>
            <a:off x="0" y="4527687"/>
            <a:ext cx="4193309" cy="318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2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900" b="1" dirty="0"/>
              <a:t>LDR/STR = 2 cycles</a:t>
            </a:r>
            <a:r>
              <a:rPr lang="fr-FR" sz="900" dirty="0"/>
              <a:t>, le reste </a:t>
            </a:r>
            <a:r>
              <a:rPr lang="fr-FR" sz="900" b="1" dirty="0"/>
              <a:t>= 1 cycle</a:t>
            </a:r>
            <a:endParaRPr lang="fr-FR" sz="9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53A8EAE-949A-265A-54CC-CA1CF72EE12B}"/>
              </a:ext>
            </a:extLst>
          </p:cNvPr>
          <p:cNvSpPr/>
          <p:nvPr/>
        </p:nvSpPr>
        <p:spPr>
          <a:xfrm>
            <a:off x="6123709" y="1257500"/>
            <a:ext cx="2660073" cy="5688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1) Lire instruction</a:t>
            </a: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Lire la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prochaine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ligne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du programme</a:t>
            </a:r>
            <a:endParaRPr lang="fr-FR" sz="8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94A07C8-B4E2-60A5-FCA5-6ACED70E5A19}"/>
              </a:ext>
            </a:extLst>
          </p:cNvPr>
          <p:cNvSpPr/>
          <p:nvPr/>
        </p:nvSpPr>
        <p:spPr>
          <a:xfrm>
            <a:off x="6123709" y="1893810"/>
            <a:ext cx="2660073" cy="6681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2) </a:t>
            </a:r>
            <a:r>
              <a:rPr lang="en-GB" sz="13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Comprendre</a:t>
            </a:r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+ </a:t>
            </a:r>
            <a:r>
              <a:rPr lang="en-GB" sz="13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préparer</a:t>
            </a:r>
            <a:endParaRPr lang="en-GB" sz="1300" b="1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  <a:p>
            <a:pPr algn="ctr"/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Choisir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l’action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, les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registres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et les chemins internes</a:t>
            </a:r>
            <a:endParaRPr lang="fr-FR" sz="10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56CF90A-642F-503A-3214-7FB56E4A380B}"/>
              </a:ext>
            </a:extLst>
          </p:cNvPr>
          <p:cNvSpPr/>
          <p:nvPr/>
        </p:nvSpPr>
        <p:spPr>
          <a:xfrm>
            <a:off x="6123709" y="2660554"/>
            <a:ext cx="2660073" cy="6371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3) </a:t>
            </a:r>
            <a:r>
              <a:rPr lang="en-GB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Calculer</a:t>
            </a:r>
            <a:endParaRPr lang="en-GB" b="1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Faire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l’operation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+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mettre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a jour les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indicateurs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(0,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négatif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, etc)</a:t>
            </a:r>
            <a:endParaRPr lang="fr-FR" sz="8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F1DBB0D-176A-4BB4-D116-726163C126C4}"/>
              </a:ext>
            </a:extLst>
          </p:cNvPr>
          <p:cNvSpPr/>
          <p:nvPr/>
        </p:nvSpPr>
        <p:spPr>
          <a:xfrm>
            <a:off x="6123709" y="3396228"/>
            <a:ext cx="2660073" cy="6363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4) 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(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si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necessaire)</a:t>
            </a: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Lire/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écrire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la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des données (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seulement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pour charger/stocker</a:t>
            </a:r>
            <a:r>
              <a:rPr lang="en-GB" sz="9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  <a:endParaRPr lang="fr-FR" sz="9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3621D16-0767-6AD7-D670-A6ABC6AB8DFE}"/>
              </a:ext>
            </a:extLst>
          </p:cNvPr>
          <p:cNvSpPr/>
          <p:nvPr/>
        </p:nvSpPr>
        <p:spPr>
          <a:xfrm>
            <a:off x="6123709" y="4131902"/>
            <a:ext cx="2660073" cy="6355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5) Enregister le 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résultat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</a:p>
          <a:p>
            <a:pPr algn="ctr"/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Ecrire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dans un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registre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ou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changer la suite du programme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ou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mettre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à jour la pile</a:t>
            </a:r>
            <a:endParaRPr lang="fr-FR" sz="7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1A1A809-2C4C-DBA9-8A49-59BE46B38A14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7453746" y="1826313"/>
            <a:ext cx="0" cy="674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B446714-15EC-F590-A9EE-362747F3508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7453746" y="2561987"/>
            <a:ext cx="0" cy="985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261E29-4DC3-6E8C-792F-69F59C47449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7453746" y="3297662"/>
            <a:ext cx="0" cy="985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B9CC5F0-A852-D9A5-AC90-DA9F8D5CB4F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7453746" y="4032538"/>
            <a:ext cx="0" cy="99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588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5737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Architecture CPU (</a:t>
            </a:r>
            <a:r>
              <a:rPr lang="fr-FR" dirty="0" err="1"/>
              <a:t>datapath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277" name="Google Shape;277;p34"/>
          <p:cNvSpPr txBox="1">
            <a:spLocks noGrp="1"/>
          </p:cNvSpPr>
          <p:nvPr>
            <p:ph type="subTitle" idx="3"/>
          </p:nvPr>
        </p:nvSpPr>
        <p:spPr>
          <a:xfrm>
            <a:off x="233384" y="3679861"/>
            <a:ext cx="7552870" cy="31858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Compteur d’instructions </a:t>
            </a:r>
            <a:r>
              <a:rPr lang="fr-FR" dirty="0"/>
              <a:t>: fournit l’adresse de la prochaine instruction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Mémoire programme (ROM) </a:t>
            </a:r>
            <a:r>
              <a:rPr lang="fr-FR" dirty="0"/>
              <a:t>: renvoie l’instruction courante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Décodage / contrôle </a:t>
            </a:r>
            <a:r>
              <a:rPr lang="fr-FR" dirty="0"/>
              <a:t>: choisit les chemins et active les écritures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Banc de registres + ALU </a:t>
            </a:r>
            <a:r>
              <a:rPr lang="fr-FR" dirty="0"/>
              <a:t>: calcule le résultat et met à jour les indicateurs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Interface mémoire (RAM) </a:t>
            </a:r>
            <a:r>
              <a:rPr lang="fr-FR" dirty="0"/>
              <a:t>: utilisée uniquement pour charger / stocker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A9579-C844-C424-4FF0-540629A82C4C}"/>
              </a:ext>
            </a:extLst>
          </p:cNvPr>
          <p:cNvSpPr txBox="1"/>
          <p:nvPr/>
        </p:nvSpPr>
        <p:spPr>
          <a:xfrm>
            <a:off x="388032" y="1674801"/>
            <a:ext cx="51987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C00000"/>
                </a:solidFill>
              </a:rPr>
              <a:t>Prends un </a:t>
            </a:r>
            <a:r>
              <a:rPr lang="fr-FR" b="1" dirty="0" err="1">
                <a:solidFill>
                  <a:srgbClr val="C00000"/>
                </a:solidFill>
              </a:rPr>
              <a:t>screenshot</a:t>
            </a:r>
            <a:r>
              <a:rPr lang="fr-FR" b="1" dirty="0">
                <a:solidFill>
                  <a:srgbClr val="C00000"/>
                </a:solidFill>
              </a:rPr>
              <a:t> de ton top-</a:t>
            </a:r>
            <a:r>
              <a:rPr lang="fr-FR" b="1" dirty="0" err="1">
                <a:solidFill>
                  <a:srgbClr val="C00000"/>
                </a:solidFill>
              </a:rPr>
              <a:t>level</a:t>
            </a:r>
            <a:r>
              <a:rPr lang="fr-FR" b="1" dirty="0">
                <a:solidFill>
                  <a:srgbClr val="C00000"/>
                </a:solidFill>
              </a:rPr>
              <a:t> </a:t>
            </a:r>
            <a:r>
              <a:rPr lang="fr-FR" b="1" dirty="0" err="1">
                <a:solidFill>
                  <a:srgbClr val="C00000"/>
                </a:solidFill>
              </a:rPr>
              <a:t>Logisim</a:t>
            </a:r>
            <a:r>
              <a:rPr lang="fr-FR" dirty="0">
                <a:solidFill>
                  <a:srgbClr val="C00000"/>
                </a:solidFill>
              </a:rPr>
              <a:t> où on voit clairement :</a:t>
            </a:r>
          </a:p>
          <a:p>
            <a:r>
              <a:rPr lang="fr-FR" b="1" dirty="0">
                <a:solidFill>
                  <a:srgbClr val="C00000"/>
                </a:solidFill>
              </a:rPr>
              <a:t>CPU</a:t>
            </a:r>
            <a:endParaRPr lang="fr-FR" dirty="0">
              <a:solidFill>
                <a:srgbClr val="C00000"/>
              </a:solidFill>
            </a:endParaRPr>
          </a:p>
          <a:p>
            <a:r>
              <a:rPr lang="fr-FR" b="1" dirty="0">
                <a:solidFill>
                  <a:srgbClr val="C00000"/>
                </a:solidFill>
              </a:rPr>
              <a:t>ROM (programme)</a:t>
            </a:r>
            <a:endParaRPr lang="fr-FR" dirty="0">
              <a:solidFill>
                <a:srgbClr val="C00000"/>
              </a:solidFill>
            </a:endParaRPr>
          </a:p>
          <a:p>
            <a:r>
              <a:rPr lang="fr-FR" b="1" dirty="0">
                <a:solidFill>
                  <a:srgbClr val="C00000"/>
                </a:solidFill>
              </a:rPr>
              <a:t>RAM (données)</a:t>
            </a:r>
            <a:endParaRPr lang="fr-FR" dirty="0">
              <a:solidFill>
                <a:srgbClr val="C00000"/>
              </a:solidFill>
            </a:endParaRPr>
          </a:p>
          <a:p>
            <a:r>
              <a:rPr lang="fr-FR" b="1" dirty="0" err="1">
                <a:solidFill>
                  <a:srgbClr val="C00000"/>
                </a:solidFill>
              </a:rPr>
              <a:t>Clock</a:t>
            </a:r>
            <a:r>
              <a:rPr lang="fr-FR" b="1" dirty="0">
                <a:solidFill>
                  <a:srgbClr val="C00000"/>
                </a:solidFill>
              </a:rPr>
              <a:t> / Reset</a:t>
            </a:r>
            <a:endParaRPr lang="fr-FR" dirty="0">
              <a:solidFill>
                <a:srgbClr val="C00000"/>
              </a:solidFill>
            </a:endParaRPr>
          </a:p>
          <a:p>
            <a:r>
              <a:rPr lang="fr-FR" dirty="0">
                <a:solidFill>
                  <a:srgbClr val="C00000"/>
                </a:solidFill>
              </a:rPr>
              <a:t>(si possible) les bus/sorties nommées (</a:t>
            </a:r>
            <a:r>
              <a:rPr lang="fr-FR" dirty="0" err="1">
                <a:solidFill>
                  <a:srgbClr val="C00000"/>
                </a:solidFill>
              </a:rPr>
              <a:t>Addr</a:t>
            </a:r>
            <a:r>
              <a:rPr lang="fr-FR" dirty="0">
                <a:solidFill>
                  <a:srgbClr val="C00000"/>
                </a:solidFill>
              </a:rPr>
              <a:t>/Data/WE)</a:t>
            </a:r>
          </a:p>
          <a:p>
            <a:endParaRPr lang="fr-FR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4A8A800-ABDE-C411-D061-632623FAED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299407"/>
              </p:ext>
            </p:extLst>
          </p:nvPr>
        </p:nvGraphicFramePr>
        <p:xfrm>
          <a:off x="5357781" y="881072"/>
          <a:ext cx="3398187" cy="1587458"/>
        </p:xfrm>
        <a:graphic>
          <a:graphicData uri="http://schemas.openxmlformats.org/drawingml/2006/table">
            <a:tbl>
              <a:tblPr/>
              <a:tblGrid>
                <a:gridCol w="1132729">
                  <a:extLst>
                    <a:ext uri="{9D8B030D-6E8A-4147-A177-3AD203B41FA5}">
                      <a16:colId xmlns:a16="http://schemas.microsoft.com/office/drawing/2014/main" val="2007413439"/>
                    </a:ext>
                  </a:extLst>
                </a:gridCol>
                <a:gridCol w="1132729">
                  <a:extLst>
                    <a:ext uri="{9D8B030D-6E8A-4147-A177-3AD203B41FA5}">
                      <a16:colId xmlns:a16="http://schemas.microsoft.com/office/drawing/2014/main" val="815537980"/>
                    </a:ext>
                  </a:extLst>
                </a:gridCol>
                <a:gridCol w="1132729">
                  <a:extLst>
                    <a:ext uri="{9D8B030D-6E8A-4147-A177-3AD203B41FA5}">
                      <a16:colId xmlns:a16="http://schemas.microsoft.com/office/drawing/2014/main" val="4195817921"/>
                    </a:ext>
                  </a:extLst>
                </a:gridCol>
              </a:tblGrid>
              <a:tr h="229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Interface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Entrées / Sorties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À quoi ça sert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6712884"/>
                  </a:ext>
                </a:extLst>
              </a:tr>
              <a:tr h="390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ROM</a:t>
                      </a:r>
                      <a:endParaRPr lang="fr-FR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adresse → instruction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lire le programme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0833970"/>
                  </a:ext>
                </a:extLst>
              </a:tr>
              <a:tr h="5511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 dirty="0"/>
                        <a:t>RAM</a:t>
                      </a:r>
                      <a:endParaRPr lang="fr-FR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adresse + données + write enable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lire/écrire données (load/store)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8804629"/>
                  </a:ext>
                </a:extLst>
              </a:tr>
              <a:tr h="390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Clock/Reset</a:t>
                      </a:r>
                      <a:endParaRPr lang="fr-FR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horloge / remise à zéro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cadence + init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225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0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534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800" dirty="0"/>
              <a:t>ISA supportée (</a:t>
            </a:r>
            <a:r>
              <a:rPr lang="fr-FR" sz="2800" dirty="0" err="1"/>
              <a:t>Thumb</a:t>
            </a:r>
            <a:r>
              <a:rPr lang="fr-FR" sz="2800" dirty="0"/>
              <a:t> 16 bits) - ce que notre CPU exécute</a:t>
            </a:r>
            <a:endParaRPr sz="2800" b="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446A8F2-55F7-8B2C-44C6-451A7F4B4D51}"/>
              </a:ext>
            </a:extLst>
          </p:cNvPr>
          <p:cNvSpPr/>
          <p:nvPr/>
        </p:nvSpPr>
        <p:spPr>
          <a:xfrm>
            <a:off x="942109" y="1662545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Déplacements &amp; </a:t>
            </a:r>
            <a:r>
              <a:rPr lang="fr-FR" dirty="0" err="1"/>
              <a:t>arithmétiqueMOV</a:t>
            </a:r>
            <a:r>
              <a:rPr lang="fr-FR" dirty="0"/>
              <a:t> (</a:t>
            </a:r>
            <a:r>
              <a:rPr lang="fr-FR" dirty="0" err="1"/>
              <a:t>imm</a:t>
            </a:r>
            <a:r>
              <a:rPr lang="fr-FR" dirty="0"/>
              <a:t>)ADD / </a:t>
            </a:r>
            <a:r>
              <a:rPr lang="fr-FR" dirty="0" err="1"/>
              <a:t>SUBShift</a:t>
            </a:r>
            <a:r>
              <a:rPr lang="fr-FR" dirty="0"/>
              <a:t> (LSL/LSR/ASR)CMP (selon </a:t>
            </a:r>
            <a:r>
              <a:rPr lang="fr-FR" dirty="0" err="1"/>
              <a:t>impl</a:t>
            </a:r>
            <a:r>
              <a:rPr lang="fr-FR" dirty="0"/>
              <a:t>.)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6E6131F-E64D-BC7B-EA24-54C3E10E7C4A}"/>
              </a:ext>
            </a:extLst>
          </p:cNvPr>
          <p:cNvSpPr/>
          <p:nvPr/>
        </p:nvSpPr>
        <p:spPr>
          <a:xfrm>
            <a:off x="942108" y="320963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 (pile)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LDR (SP +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STR (SP +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Adresse = SP + offset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2 cycles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7EE4F51-5B24-6265-65BE-408BA1B5616A}"/>
              </a:ext>
            </a:extLst>
          </p:cNvPr>
          <p:cNvSpPr/>
          <p:nvPr/>
        </p:nvSpPr>
        <p:spPr>
          <a:xfrm>
            <a:off x="4632036" y="3209635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D0D3980-558D-741C-8F25-EBD5099F724A}"/>
              </a:ext>
            </a:extLst>
          </p:cNvPr>
          <p:cNvSpPr/>
          <p:nvPr/>
        </p:nvSpPr>
        <p:spPr>
          <a:xfrm>
            <a:off x="4632035" y="166254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F09D3737-9D61-CF51-F440-9F167C64F227}"/>
              </a:ext>
            </a:extLst>
          </p:cNvPr>
          <p:cNvSpPr/>
          <p:nvPr/>
        </p:nvSpPr>
        <p:spPr>
          <a:xfrm>
            <a:off x="942108" y="166254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Déplacements &amp; arithmétique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MOV (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ADD / SUB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Shift (LSL/LSR/ASR)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CMP (selon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impl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.)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4F1D4EF-100A-4537-4D7A-52E2C8EF490D}"/>
              </a:ext>
            </a:extLst>
          </p:cNvPr>
          <p:cNvSpPr/>
          <p:nvPr/>
        </p:nvSpPr>
        <p:spPr>
          <a:xfrm>
            <a:off x="4632035" y="320963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Branchements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 conditionnel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offset signé (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dépend des indicateurs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pas de BL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7AB7ACF-3EC4-CEB2-C518-EC8B67CAE516}"/>
              </a:ext>
            </a:extLst>
          </p:cNvPr>
          <p:cNvSpPr/>
          <p:nvPr/>
        </p:nvSpPr>
        <p:spPr>
          <a:xfrm>
            <a:off x="4632034" y="1662543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Traitement logique/ALU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AND / ORR / EOR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ADC / SBC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TST / CMN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MUL (si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impl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1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>
                <a:hlinkClick r:id="rId3" action="ppaction://hlinkfile"/>
              </a:rPr>
              <a:t>Assembleur / Parseur</a:t>
            </a:r>
            <a:endParaRPr dirty="0"/>
          </a:p>
        </p:txBody>
      </p:sp>
      <p:sp>
        <p:nvSpPr>
          <p:cNvPr id="251" name="Google Shape;251;p31"/>
          <p:cNvSpPr txBox="1">
            <a:spLocks noGrp="1"/>
          </p:cNvSpPr>
          <p:nvPr>
            <p:ph type="body" idx="1"/>
          </p:nvPr>
        </p:nvSpPr>
        <p:spPr>
          <a:xfrm>
            <a:off x="3681375" y="1423550"/>
            <a:ext cx="4940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rgbClr val="273D40"/>
              </a:buClr>
              <a:buSzPts val="600"/>
              <a:buNone/>
            </a:pPr>
            <a:r>
              <a:rPr lang="fr-FR" dirty="0"/>
              <a:t>Transformer un programme assembleur en fichier ROM compatible </a:t>
            </a:r>
            <a:r>
              <a:rPr lang="fr-FR" dirty="0" err="1"/>
              <a:t>Logisim</a:t>
            </a:r>
            <a:r>
              <a:rPr lang="fr-FR" dirty="0"/>
              <a:t> pour exécuter sur notre CPU.</a:t>
            </a:r>
          </a:p>
          <a:p>
            <a:pPr marL="0" lvl="0" indent="0">
              <a:buClr>
                <a:srgbClr val="273D40"/>
              </a:buClr>
              <a:buSzPts val="600"/>
              <a:buNone/>
            </a:pPr>
            <a:endParaRPr lang="fr-FR" dirty="0"/>
          </a:p>
          <a:p>
            <a:r>
              <a:rPr lang="fr-FR" dirty="0"/>
              <a:t>Entrée : fichier .s (code assembleur)</a:t>
            </a:r>
          </a:p>
          <a:p>
            <a:r>
              <a:rPr lang="fr-FR" dirty="0"/>
              <a:t>Analyse : lecture ligne par ligne, découpage en </a:t>
            </a:r>
            <a:r>
              <a:rPr lang="fr-FR" dirty="0" err="1"/>
              <a:t>tokens</a:t>
            </a:r>
            <a:r>
              <a:rPr lang="fr-FR" dirty="0"/>
              <a:t>, gestion labels</a:t>
            </a:r>
          </a:p>
          <a:p>
            <a:r>
              <a:rPr lang="fr-FR" dirty="0"/>
              <a:t>Encodage : conversion en instructions 16 bits (et gestion des erreurs)</a:t>
            </a:r>
          </a:p>
          <a:p>
            <a:r>
              <a:rPr lang="fr-FR" dirty="0"/>
              <a:t>Sortie : fichier .</a:t>
            </a:r>
            <a:r>
              <a:rPr lang="fr-FR" dirty="0" err="1"/>
              <a:t>hex</a:t>
            </a:r>
            <a:r>
              <a:rPr lang="fr-FR" dirty="0"/>
              <a:t> </a:t>
            </a:r>
            <a:r>
              <a:rPr lang="fr-FR" dirty="0" err="1"/>
              <a:t>Logisim</a:t>
            </a:r>
            <a:endParaRPr lang="fr-FR" dirty="0"/>
          </a:p>
          <a:p>
            <a:pPr marL="0" lvl="0" indent="0">
              <a:buClr>
                <a:srgbClr val="273D40"/>
              </a:buClr>
              <a:buSzPts val="600"/>
              <a:buNone/>
            </a:pPr>
            <a:endParaRPr dirty="0"/>
          </a:p>
        </p:txBody>
      </p:sp>
      <p:grpSp>
        <p:nvGrpSpPr>
          <p:cNvPr id="252" name="Google Shape;252;p31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253" name="Google Shape;253;p31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4" name="Google Shape;254;p31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6B570875-A4C8-1D88-0204-82A4C3AC787D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5"/>
          <a:srcRect l="187" r="187"/>
          <a:stretch/>
        </p:blipFill>
        <p:spPr>
          <a:prstGeom prst="rect">
            <a:avLst/>
          </a:prstGeom>
          <a:noFill/>
          <a:ln w="9525" cap="flat" cmpd="sng">
            <a:solidFill>
              <a:srgbClr val="70707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ALU + Indicateurs (NZCV)</a:t>
            </a:r>
            <a:endParaRPr dirty="0"/>
          </a:p>
        </p:txBody>
      </p:sp>
      <p:sp>
        <p:nvSpPr>
          <p:cNvPr id="271" name="Google Shape;271;p33"/>
          <p:cNvSpPr txBox="1">
            <a:spLocks noGrp="1"/>
          </p:cNvSpPr>
          <p:nvPr>
            <p:ph type="subTitle" idx="1"/>
          </p:nvPr>
        </p:nvSpPr>
        <p:spPr>
          <a:xfrm>
            <a:off x="1338122" y="1576805"/>
            <a:ext cx="6688278" cy="6029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L’ALU fait les calculs (arithmétique, logique, décalages) et met à jour les indicateurs.</a:t>
            </a:r>
          </a:p>
          <a:p>
            <a:pPr marL="0" lvl="0" indent="0"/>
            <a:endParaRPr lang="fr-FR" dirty="0"/>
          </a:p>
          <a:p>
            <a:pPr marL="0" lvl="0" indent="0"/>
            <a:endParaRPr dirty="0"/>
          </a:p>
        </p:txBody>
      </p:sp>
      <p:sp>
        <p:nvSpPr>
          <p:cNvPr id="2" name="Google Shape;271;p33">
            <a:extLst>
              <a:ext uri="{FF2B5EF4-FFF2-40B4-BE49-F238E27FC236}">
                <a16:creationId xmlns:a16="http://schemas.microsoft.com/office/drawing/2014/main" id="{B5EFA36F-1575-04DF-E09D-2D35FDA5DA60}"/>
              </a:ext>
            </a:extLst>
          </p:cNvPr>
          <p:cNvSpPr txBox="1">
            <a:spLocks/>
          </p:cNvSpPr>
          <p:nvPr/>
        </p:nvSpPr>
        <p:spPr>
          <a:xfrm>
            <a:off x="455474" y="2642203"/>
            <a:ext cx="4226787" cy="1218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1800" b="1" dirty="0"/>
              <a:t>Entrées : </a:t>
            </a:r>
          </a:p>
          <a:p>
            <a:r>
              <a:rPr lang="fr-FR" b="1" dirty="0"/>
              <a:t>A (32 bits)</a:t>
            </a:r>
            <a:r>
              <a:rPr lang="fr-FR" dirty="0"/>
              <a:t> : valeur venant d’un registre</a:t>
            </a:r>
          </a:p>
          <a:p>
            <a:r>
              <a:rPr lang="fr-FR" b="1" dirty="0"/>
              <a:t>B (32 bits)</a:t>
            </a:r>
            <a:r>
              <a:rPr lang="fr-FR" dirty="0"/>
              <a:t> : valeur venant d’un registre / immédiat</a:t>
            </a:r>
          </a:p>
          <a:p>
            <a:r>
              <a:rPr lang="fr-FR" b="1" dirty="0"/>
              <a:t>Paramètres</a:t>
            </a:r>
            <a:r>
              <a:rPr lang="fr-FR" dirty="0"/>
              <a:t> : type d’opération + décalage + retenue (si besoin)</a:t>
            </a:r>
          </a:p>
          <a:p>
            <a:pPr marL="0" indent="0"/>
            <a:endParaRPr lang="fr-FR" dirty="0"/>
          </a:p>
          <a:p>
            <a:pPr marL="0" indent="0"/>
            <a:endParaRPr lang="fr-FR" dirty="0"/>
          </a:p>
        </p:txBody>
      </p:sp>
      <p:sp>
        <p:nvSpPr>
          <p:cNvPr id="3" name="Google Shape;271;p33">
            <a:extLst>
              <a:ext uri="{FF2B5EF4-FFF2-40B4-BE49-F238E27FC236}">
                <a16:creationId xmlns:a16="http://schemas.microsoft.com/office/drawing/2014/main" id="{D32F9B50-898D-C48C-F30D-98CF679DFC2C}"/>
              </a:ext>
            </a:extLst>
          </p:cNvPr>
          <p:cNvSpPr txBox="1">
            <a:spLocks/>
          </p:cNvSpPr>
          <p:nvPr/>
        </p:nvSpPr>
        <p:spPr>
          <a:xfrm>
            <a:off x="5111631" y="2743501"/>
            <a:ext cx="6591296" cy="1218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1800" b="1" dirty="0"/>
              <a:t>Sorties : </a:t>
            </a:r>
          </a:p>
          <a:p>
            <a:r>
              <a:rPr lang="fr-FR" b="1" dirty="0"/>
              <a:t>Résultat (32 bits)</a:t>
            </a:r>
            <a:endParaRPr lang="fr-FR" dirty="0"/>
          </a:p>
          <a:p>
            <a:r>
              <a:rPr lang="fr-FR" b="1" dirty="0"/>
              <a:t>Indicateurs NZCV</a:t>
            </a:r>
            <a:endParaRPr lang="fr-FR" dirty="0"/>
          </a:p>
          <a:p>
            <a:pPr lvl="1"/>
            <a:r>
              <a:rPr lang="fr-FR" b="1" dirty="0"/>
              <a:t>N</a:t>
            </a:r>
            <a:r>
              <a:rPr lang="fr-FR" dirty="0"/>
              <a:t> : résultat négatif</a:t>
            </a:r>
          </a:p>
          <a:p>
            <a:pPr lvl="1"/>
            <a:r>
              <a:rPr lang="fr-FR" b="1" dirty="0"/>
              <a:t>Z</a:t>
            </a:r>
            <a:r>
              <a:rPr lang="fr-FR" dirty="0"/>
              <a:t> : résultat = 0</a:t>
            </a:r>
          </a:p>
          <a:p>
            <a:pPr lvl="1"/>
            <a:r>
              <a:rPr lang="fr-FR" b="1" dirty="0"/>
              <a:t>C</a:t>
            </a:r>
            <a:r>
              <a:rPr lang="fr-FR" dirty="0"/>
              <a:t> : retenue (carry)</a:t>
            </a:r>
          </a:p>
          <a:p>
            <a:pPr lvl="1"/>
            <a:r>
              <a:rPr lang="fr-FR" b="1" dirty="0"/>
              <a:t>V</a:t>
            </a:r>
            <a:r>
              <a:rPr lang="fr-FR" dirty="0"/>
              <a:t> : dépassement (</a:t>
            </a:r>
            <a:r>
              <a:rPr lang="fr-FR" dirty="0" err="1"/>
              <a:t>overflow</a:t>
            </a:r>
            <a:r>
              <a:rPr lang="fr-FR" dirty="0"/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>
          <a:extLst>
            <a:ext uri="{FF2B5EF4-FFF2-40B4-BE49-F238E27FC236}">
              <a16:creationId xmlns:a16="http://schemas.microsoft.com/office/drawing/2014/main" id="{6E153DFB-7C9B-6399-C5B8-FFC8DF38B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>
            <a:extLst>
              <a:ext uri="{FF2B5EF4-FFF2-40B4-BE49-F238E27FC236}">
                <a16:creationId xmlns:a16="http://schemas.microsoft.com/office/drawing/2014/main" id="{B8D29AF6-4B8C-EC0E-EBA1-6CC119CC12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ALU + Indicateurs (NZCV)</a:t>
            </a:r>
            <a:endParaRPr dirty="0"/>
          </a:p>
        </p:txBody>
      </p:sp>
      <p:sp>
        <p:nvSpPr>
          <p:cNvPr id="271" name="Google Shape;271;p33">
            <a:extLst>
              <a:ext uri="{FF2B5EF4-FFF2-40B4-BE49-F238E27FC236}">
                <a16:creationId xmlns:a16="http://schemas.microsoft.com/office/drawing/2014/main" id="{E27ADB4C-38BF-9E7A-D013-D3EAF7D729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38122" y="1576805"/>
            <a:ext cx="6688278" cy="6029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L’ALU fait les calculs (arithmétique, logique, décalages) et met à jour les indicateurs.</a:t>
            </a:r>
          </a:p>
          <a:p>
            <a:pPr marL="0" lvl="0" indent="0"/>
            <a:endParaRPr lang="fr-FR" dirty="0"/>
          </a:p>
          <a:p>
            <a:pPr marL="0" lvl="0" indent="0"/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F44B4B9-9BEE-0169-ABB4-B9AC45EB3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200" y="2607545"/>
            <a:ext cx="1810179" cy="17412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3898245-98F4-C3C7-53EC-EDAB14054C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070900"/>
            <a:ext cx="3188245" cy="25717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27D20A-2BBF-D170-C8E6-B10592AC31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835" y="2023340"/>
            <a:ext cx="1872565" cy="10968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4F253F-5658-2567-862E-BCAC1F401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506" y="2433890"/>
            <a:ext cx="1888694" cy="184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627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9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Tests &amp; Taux de couverture</a:t>
            </a:r>
            <a:endParaRPr dirty="0"/>
          </a:p>
        </p:txBody>
      </p:sp>
      <p:sp>
        <p:nvSpPr>
          <p:cNvPr id="350" name="Google Shape;350;p39"/>
          <p:cNvSpPr txBox="1"/>
          <p:nvPr/>
        </p:nvSpPr>
        <p:spPr>
          <a:xfrm>
            <a:off x="341850" y="3717724"/>
            <a:ext cx="2078077" cy="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Tests unitaires :</a:t>
            </a:r>
            <a:endParaRPr sz="20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352" name="Google Shape;352;p39"/>
          <p:cNvSpPr txBox="1"/>
          <p:nvPr/>
        </p:nvSpPr>
        <p:spPr>
          <a:xfrm>
            <a:off x="2514476" y="3717724"/>
            <a:ext cx="2741015" cy="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Tests d’intégration CPU :</a:t>
            </a:r>
            <a:endParaRPr sz="20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354" name="Google Shape;354;p39"/>
          <p:cNvSpPr txBox="1"/>
          <p:nvPr/>
        </p:nvSpPr>
        <p:spPr>
          <a:xfrm>
            <a:off x="4572000" y="2074574"/>
            <a:ext cx="43443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u="sng" dirty="0">
                <a:solidFill>
                  <a:srgbClr val="C00000"/>
                </a:solidFill>
                <a:latin typeface="Roboto Mono"/>
                <a:ea typeface="Roboto Mono"/>
                <a:cs typeface="Roboto Mono"/>
                <a:sym typeface="Roboto Mono"/>
              </a:rPr>
              <a:t>DEMANDER a chat de faire un graphe </a:t>
            </a:r>
            <a:endParaRPr sz="1000" b="1" u="sng" dirty="0">
              <a:solidFill>
                <a:srgbClr val="C000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355" name="Google Shape;355;p39"/>
          <p:cNvSpPr/>
          <p:nvPr/>
        </p:nvSpPr>
        <p:spPr>
          <a:xfrm>
            <a:off x="424826" y="3563260"/>
            <a:ext cx="389700" cy="10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6" name="Google Shape;356;p39"/>
          <p:cNvSpPr/>
          <p:nvPr/>
        </p:nvSpPr>
        <p:spPr>
          <a:xfrm>
            <a:off x="2590676" y="3563260"/>
            <a:ext cx="389700" cy="10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57" name="Google Shape;357;p39" title="Chart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4825" y="1320565"/>
            <a:ext cx="3372301" cy="145648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352;p39">
            <a:extLst>
              <a:ext uri="{FF2B5EF4-FFF2-40B4-BE49-F238E27FC236}">
                <a16:creationId xmlns:a16="http://schemas.microsoft.com/office/drawing/2014/main" id="{45FB7F7F-F4B0-797F-5B65-ACBC2C3FD4C4}"/>
              </a:ext>
            </a:extLst>
          </p:cNvPr>
          <p:cNvSpPr txBox="1"/>
          <p:nvPr/>
        </p:nvSpPr>
        <p:spPr>
          <a:xfrm>
            <a:off x="5576330" y="3705392"/>
            <a:ext cx="2741015" cy="671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Tests d’intégration parseur/assembleur :</a:t>
            </a:r>
            <a:endParaRPr sz="20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3" name="Google Shape;356;p39">
            <a:extLst>
              <a:ext uri="{FF2B5EF4-FFF2-40B4-BE49-F238E27FC236}">
                <a16:creationId xmlns:a16="http://schemas.microsoft.com/office/drawing/2014/main" id="{D7656AAB-A8F1-5C81-7A9D-B2781D887EA7}"/>
              </a:ext>
            </a:extLst>
          </p:cNvPr>
          <p:cNvSpPr/>
          <p:nvPr/>
        </p:nvSpPr>
        <p:spPr>
          <a:xfrm>
            <a:off x="5680239" y="3563260"/>
            <a:ext cx="389700" cy="100800"/>
          </a:xfrm>
          <a:prstGeom prst="rect">
            <a:avLst/>
          </a:prstGeom>
          <a:solidFill>
            <a:schemeClr val="tx1">
              <a:lumMod val="25000"/>
              <a:lumOff val="7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9F8AA-707B-AA9E-26CF-4661FF240D17}"/>
              </a:ext>
            </a:extLst>
          </p:cNvPr>
          <p:cNvSpPr txBox="1"/>
          <p:nvPr/>
        </p:nvSpPr>
        <p:spPr>
          <a:xfrm>
            <a:off x="424826" y="437686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latin typeface="VT323" panose="020B0604020202020204" charset="0"/>
              </a:rPr>
              <a:t>____%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C863B5-465A-D579-BF60-105C63A13C20}"/>
              </a:ext>
            </a:extLst>
          </p:cNvPr>
          <p:cNvSpPr txBox="1"/>
          <p:nvPr/>
        </p:nvSpPr>
        <p:spPr>
          <a:xfrm>
            <a:off x="2590676" y="4376861"/>
            <a:ext cx="2914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latin typeface="VT323" panose="020B0604020202020204" charset="0"/>
              </a:rPr>
              <a:t>____%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36F47-7AA3-BA94-5A8E-588B8093EBC2}"/>
              </a:ext>
            </a:extLst>
          </p:cNvPr>
          <p:cNvSpPr txBox="1"/>
          <p:nvPr/>
        </p:nvSpPr>
        <p:spPr>
          <a:xfrm>
            <a:off x="5576330" y="437686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latin typeface="VT323" panose="020B0604020202020204" charset="0"/>
              </a:rPr>
              <a:t>____%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 title="beautiful-sea-life-with-aquatic-animal (1).jpg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20933" r="20933"/>
          <a:stretch/>
        </p:blipFill>
        <p:spPr>
          <a:xfrm flipH="1">
            <a:off x="6386650" y="947025"/>
            <a:ext cx="2107500" cy="2067599"/>
          </a:xfrm>
          <a:prstGeom prst="rect">
            <a:avLst/>
          </a:prstGeom>
        </p:spPr>
      </p:pic>
      <p:sp>
        <p:nvSpPr>
          <p:cNvPr id="260" name="Google Shape;260;p32"/>
          <p:cNvSpPr txBox="1">
            <a:spLocks noGrp="1"/>
          </p:cNvSpPr>
          <p:nvPr>
            <p:ph type="subTitle" idx="1"/>
          </p:nvPr>
        </p:nvSpPr>
        <p:spPr>
          <a:xfrm>
            <a:off x="3465325" y="3918575"/>
            <a:ext cx="5174400" cy="6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hlinkClick r:id="rId4" action="ppaction://hlinkfile"/>
              </a:rPr>
              <a:t>DEMO</a:t>
            </a:r>
            <a:endParaRPr dirty="0"/>
          </a:p>
        </p:txBody>
      </p:sp>
      <p:sp>
        <p:nvSpPr>
          <p:cNvPr id="261" name="Google Shape;261;p32"/>
          <p:cNvSpPr txBox="1">
            <a:spLocks noGrp="1"/>
          </p:cNvSpPr>
          <p:nvPr>
            <p:ph type="title"/>
          </p:nvPr>
        </p:nvSpPr>
        <p:spPr>
          <a:xfrm>
            <a:off x="649850" y="1661809"/>
            <a:ext cx="4765964" cy="152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Test fonctionnel final (démo) + Conclusion</a:t>
            </a:r>
            <a:endParaRPr dirty="0"/>
          </a:p>
        </p:txBody>
      </p:sp>
      <p:grpSp>
        <p:nvGrpSpPr>
          <p:cNvPr id="263" name="Google Shape;263;p32"/>
          <p:cNvGrpSpPr/>
          <p:nvPr/>
        </p:nvGrpSpPr>
        <p:grpSpPr>
          <a:xfrm>
            <a:off x="6386650" y="947025"/>
            <a:ext cx="2107351" cy="265500"/>
            <a:chOff x="6386650" y="947025"/>
            <a:chExt cx="2107351" cy="265500"/>
          </a:xfrm>
        </p:grpSpPr>
        <p:pic>
          <p:nvPicPr>
            <p:cNvPr id="264" name="Google Shape;264;p32" title="Sin título-2.png"/>
            <p:cNvPicPr preferRelativeResize="0"/>
            <p:nvPr/>
          </p:nvPicPr>
          <p:blipFill rotWithShape="1">
            <a:blip r:embed="rId5">
              <a:alphaModFix/>
            </a:blip>
            <a:srcRect l="71706"/>
            <a:stretch/>
          </p:blipFill>
          <p:spPr>
            <a:xfrm>
              <a:off x="6386650" y="947025"/>
              <a:ext cx="2107351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32" title="Sin título-2.png"/>
            <p:cNvPicPr preferRelativeResize="0"/>
            <p:nvPr/>
          </p:nvPicPr>
          <p:blipFill rotWithShape="1">
            <a:blip r:embed="rId5">
              <a:alphaModFix/>
            </a:blip>
            <a:srcRect l="71706"/>
            <a:stretch/>
          </p:blipFill>
          <p:spPr>
            <a:xfrm>
              <a:off x="6386650" y="947025"/>
              <a:ext cx="2107351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372;p41">
            <a:extLst>
              <a:ext uri="{FF2B5EF4-FFF2-40B4-BE49-F238E27FC236}">
                <a16:creationId xmlns:a16="http://schemas.microsoft.com/office/drawing/2014/main" id="{19B249C8-730E-A96E-110F-F92C97D7D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0087" y="2017568"/>
            <a:ext cx="1463826" cy="110836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MERCI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1" name="Google Shape;390;p41">
            <a:extLst>
              <a:ext uri="{FF2B5EF4-FFF2-40B4-BE49-F238E27FC236}">
                <a16:creationId xmlns:a16="http://schemas.microsoft.com/office/drawing/2014/main" id="{6F719963-B74C-912D-D503-B4F38BFDB5DC}"/>
              </a:ext>
            </a:extLst>
          </p:cNvPr>
          <p:cNvSpPr txBox="1"/>
          <p:nvPr/>
        </p:nvSpPr>
        <p:spPr>
          <a:xfrm>
            <a:off x="341850" y="205291"/>
            <a:ext cx="44754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sz="1600" dirty="0" err="1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Ezdin</a:t>
            </a:r>
            <a:r>
              <a:rPr lang="fr-FR" sz="16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 / Samy / Othman / Eliot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y Presentation Template">
  <a:themeElements>
    <a:clrScheme name="Simple Light">
      <a:dk1>
        <a:srgbClr val="191919"/>
      </a:dk1>
      <a:lt1>
        <a:srgbClr val="EFEFEF"/>
      </a:lt1>
      <a:dk2>
        <a:srgbClr val="707070"/>
      </a:dk2>
      <a:lt2>
        <a:srgbClr val="C1C1B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1237</Words>
  <Application>Microsoft Office PowerPoint</Application>
  <PresentationFormat>On-screen Show (16:9)</PresentationFormat>
  <Paragraphs>160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VT323</vt:lpstr>
      <vt:lpstr>Open Sans</vt:lpstr>
      <vt:lpstr>Roboto Mono</vt:lpstr>
      <vt:lpstr>Darker Grotesque SemiBold</vt:lpstr>
      <vt:lpstr>Raleway</vt:lpstr>
      <vt:lpstr>Arial</vt:lpstr>
      <vt:lpstr>Hanken Grotesk</vt:lpstr>
      <vt:lpstr>Inter</vt:lpstr>
      <vt:lpstr>My Presentation Template</vt:lpstr>
      <vt:lpstr>Projet PARM  Processeur Polytech-ARM Cortex-M </vt:lpstr>
      <vt:lpstr>Agenda &amp; contraintes du projet</vt:lpstr>
      <vt:lpstr>Fonctionnement global (de bout en bout)</vt:lpstr>
      <vt:lpstr>Fonctionnement global (de bout en bout)</vt:lpstr>
      <vt:lpstr>Fonctionnement global (de bout en bout)</vt:lpstr>
      <vt:lpstr>Architecture CPU (datapath)</vt:lpstr>
      <vt:lpstr>ISA supportée (Thumb 16 bits) - ce que notre CPU exécute</vt:lpstr>
      <vt:lpstr>Assembleur / Parseur</vt:lpstr>
      <vt:lpstr>ALU + Indicateurs (NZCV)</vt:lpstr>
      <vt:lpstr>ALU + Indicateurs (NZCV)</vt:lpstr>
      <vt:lpstr>Tests &amp; Taux de couverture</vt:lpstr>
      <vt:lpstr>Test fonctionnel final (démo) + Conclusion</vt:lpstr>
      <vt:lpstr>MERCI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Eliot SKINNER</dc:creator>
  <cp:lastModifiedBy>Eliot SKINNER</cp:lastModifiedBy>
  <cp:revision>6</cp:revision>
  <dcterms:modified xsi:type="dcterms:W3CDTF">2026-01-28T16:11:21Z</dcterms:modified>
</cp:coreProperties>
</file>